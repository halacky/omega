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4" r:id="rId38"/>
    <p:sldId id="275" r:id="rId39"/>
    <p:sldId id="276" r:id="rId40"/>
    <p:sldId id="277" r:id="rId41"/>
  </p:sldIdLst>
  <p:sldSz cy="5040000" cx="9000000"/>
  <p:notesSz cx="6858000" cy="9144000"/>
  <p:embeddedFontLst>
    <p:embeddedFont>
      <p:font typeface="Libre Franklin"/>
      <p:regular r:id="rId43"/>
      <p:bold r:id="rId44"/>
      <p:italic r:id="rId45"/>
      <p:boldItalic r:id="rId46"/>
    </p:embeddedFont>
    <p:embeddedFont>
      <p:font typeface="Montserrat"/>
      <p:regular r:id="rId47"/>
      <p:bold r:id="rId48"/>
      <p:italic r:id="rId49"/>
      <p:boldItalic r:id="rId50"/>
    </p:embeddedFont>
    <p:embeddedFont>
      <p:font typeface="Quattrocento Sans"/>
      <p:regular r:id="rId51"/>
      <p:bold r:id="rId52"/>
      <p:italic r:id="rId53"/>
      <p:boldItalic r:id="rId54"/>
    </p:embeddedFont>
    <p:embeddedFont>
      <p:font typeface="Arial Black"/>
      <p:regular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90">
          <p15:clr>
            <a:srgbClr val="747775"/>
          </p15:clr>
        </p15:guide>
        <p15:guide id="2" pos="5380">
          <p15:clr>
            <a:srgbClr val="747775"/>
          </p15:clr>
        </p15:guide>
        <p15:guide id="3" orient="horz" pos="147">
          <p15:clr>
            <a:srgbClr val="747775"/>
          </p15:clr>
        </p15:guide>
        <p15:guide id="4" orient="horz" pos="3028">
          <p15:clr>
            <a:srgbClr val="747775"/>
          </p15:clr>
        </p15:guide>
        <p15:guide id="5" orient="horz" pos="534">
          <p15:clr>
            <a:srgbClr val="747775"/>
          </p15:clr>
        </p15:guide>
        <p15:guide id="6" orient="horz" pos="843">
          <p15:clr>
            <a:srgbClr val="747775"/>
          </p15:clr>
        </p15:guide>
        <p15:guide id="7" orient="horz" pos="1152">
          <p15:clr>
            <a:srgbClr val="747775"/>
          </p15:clr>
        </p15:guide>
      </p15:sldGuideLst>
    </p:ext>
    <p:ext uri="GoogleSlidesCustomDataVersion2">
      <go:slidesCustomData xmlns:go="http://customooxmlschemas.google.com/" r:id="rId56" roundtripDataSignature="AMtx7miMaggfnOBdaYx7bGNQ5QFtCz2N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90"/>
        <p:guide pos="5380"/>
        <p:guide pos="147" orient="horz"/>
        <p:guide pos="3028" orient="horz"/>
        <p:guide pos="534" orient="horz"/>
        <p:guide pos="843" orient="horz"/>
        <p:guide pos="1152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7.xml"/><Relationship Id="rId37" Type="http://schemas.openxmlformats.org/officeDocument/2006/relationships/slide" Target="slides/slide18.xml"/><Relationship Id="rId38" Type="http://schemas.openxmlformats.org/officeDocument/2006/relationships/slide" Target="slides/slide19.xml"/><Relationship Id="rId39" Type="http://schemas.openxmlformats.org/officeDocument/2006/relationships/slide" Target="slides/slide20.xml"/><Relationship Id="rId40" Type="http://schemas.openxmlformats.org/officeDocument/2006/relationships/slide" Target="slides/slide21.xml"/><Relationship Id="rId41" Type="http://schemas.openxmlformats.org/officeDocument/2006/relationships/slide" Target="slides/slide22.xml"/><Relationship Id="rId43" Type="http://schemas.openxmlformats.org/officeDocument/2006/relationships/font" Target="fonts/LibreFranklin-regular.fntdata"/><Relationship Id="rId44" Type="http://schemas.openxmlformats.org/officeDocument/2006/relationships/font" Target="fonts/LibreFranklin-bold.fntdata"/><Relationship Id="rId45" Type="http://schemas.openxmlformats.org/officeDocument/2006/relationships/font" Target="fonts/LibreFranklin-italic.fntdata"/><Relationship Id="rId46" Type="http://schemas.openxmlformats.org/officeDocument/2006/relationships/font" Target="fonts/LibreFranklin-boldItalic.fntdata"/><Relationship Id="rId47" Type="http://schemas.openxmlformats.org/officeDocument/2006/relationships/font" Target="fonts/Montserrat-regular.fntdata"/><Relationship Id="rId48" Type="http://schemas.openxmlformats.org/officeDocument/2006/relationships/font" Target="fonts/Montserrat-bold.fntdata"/><Relationship Id="rId49" Type="http://schemas.openxmlformats.org/officeDocument/2006/relationships/font" Target="fonts/Montserrat-italic.fntdata"/><Relationship Id="rId50" Type="http://schemas.openxmlformats.org/officeDocument/2006/relationships/font" Target="fonts/Montserrat-boldItalic.fntdata"/><Relationship Id="rId51" Type="http://schemas.openxmlformats.org/officeDocument/2006/relationships/font" Target="fonts/QuattrocentoSans-regular.fntdata"/><Relationship Id="rId52" Type="http://schemas.openxmlformats.org/officeDocument/2006/relationships/font" Target="fonts/QuattrocentoSans-bold.fntdata"/><Relationship Id="rId53" Type="http://schemas.openxmlformats.org/officeDocument/2006/relationships/font" Target="fonts/QuattrocentoSans-italic.fntdata"/><Relationship Id="rId54" Type="http://schemas.openxmlformats.org/officeDocument/2006/relationships/font" Target="fonts/QuattrocentoSans-boldItalic.fntdata"/><Relationship Id="rId55" Type="http://schemas.openxmlformats.org/officeDocument/2006/relationships/font" Target="fonts/ArialBlack-regular.fntdata"/><Relationship Id="rId56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body">
  <p:cSld name="3_Title and 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type="title"/>
          </p:nvPr>
        </p:nvSpPr>
        <p:spPr>
          <a:xfrm>
            <a:off x="320992" y="205833"/>
            <a:ext cx="8400000" cy="10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3375" lIns="33375" spcFirstLastPara="1" rIns="33375" wrap="square" tIns="333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 Black"/>
              <a:buNone/>
              <a:defRPr b="1" i="0" sz="3100" u="none" cap="none" strike="noStrike">
                <a:solidFill>
                  <a:srgbClr val="0072BC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1" name="Google Shape;11;p35"/>
          <p:cNvSpPr txBox="1"/>
          <p:nvPr>
            <p:ph idx="1" type="body"/>
          </p:nvPr>
        </p:nvSpPr>
        <p:spPr>
          <a:xfrm>
            <a:off x="338765" y="1435000"/>
            <a:ext cx="3925500" cy="30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3375" lIns="33375" spcFirstLastPara="1" rIns="33375" wrap="square" tIns="333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ibre Franklin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2" name="Google Shape;12;p35"/>
          <p:cNvSpPr txBox="1"/>
          <p:nvPr>
            <p:ph idx="12" type="sldNum"/>
          </p:nvPr>
        </p:nvSpPr>
        <p:spPr>
          <a:xfrm>
            <a:off x="8339034" y="4569381"/>
            <a:ext cx="5400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375" lIns="33375" spcFirstLastPara="1" rIns="33375" wrap="square" tIns="33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587">
          <p15:clr>
            <a:srgbClr val="FBAE40"/>
          </p15:clr>
        </p15:guide>
        <p15:guide id="2" pos="28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6"/>
          <p:cNvSpPr txBox="1"/>
          <p:nvPr>
            <p:ph type="ctrTitle"/>
          </p:nvPr>
        </p:nvSpPr>
        <p:spPr>
          <a:xfrm>
            <a:off x="306800" y="729592"/>
            <a:ext cx="8386500" cy="201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36"/>
          <p:cNvSpPr txBox="1"/>
          <p:nvPr>
            <p:ph idx="1" type="subTitle"/>
          </p:nvPr>
        </p:nvSpPr>
        <p:spPr>
          <a:xfrm>
            <a:off x="306791" y="2777095"/>
            <a:ext cx="8386500" cy="7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36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7"/>
          <p:cNvSpPr txBox="1"/>
          <p:nvPr>
            <p:ph type="title"/>
          </p:nvPr>
        </p:nvSpPr>
        <p:spPr>
          <a:xfrm>
            <a:off x="306791" y="2107570"/>
            <a:ext cx="8386500" cy="8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7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8"/>
          <p:cNvSpPr txBox="1"/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38"/>
          <p:cNvSpPr txBox="1"/>
          <p:nvPr>
            <p:ph idx="1" type="body"/>
          </p:nvPr>
        </p:nvSpPr>
        <p:spPr>
          <a:xfrm>
            <a:off x="306791" y="1129284"/>
            <a:ext cx="83865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38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9"/>
          <p:cNvSpPr txBox="1"/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39"/>
          <p:cNvSpPr txBox="1"/>
          <p:nvPr>
            <p:ph idx="1" type="body"/>
          </p:nvPr>
        </p:nvSpPr>
        <p:spPr>
          <a:xfrm>
            <a:off x="306791" y="1129284"/>
            <a:ext cx="39369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39"/>
          <p:cNvSpPr txBox="1"/>
          <p:nvPr>
            <p:ph idx="2" type="body"/>
          </p:nvPr>
        </p:nvSpPr>
        <p:spPr>
          <a:xfrm>
            <a:off x="4756299" y="1129284"/>
            <a:ext cx="39369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39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0"/>
          <p:cNvSpPr txBox="1"/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0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1"/>
          <p:cNvSpPr txBox="1"/>
          <p:nvPr>
            <p:ph type="title"/>
          </p:nvPr>
        </p:nvSpPr>
        <p:spPr>
          <a:xfrm>
            <a:off x="306791" y="544420"/>
            <a:ext cx="27639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41"/>
          <p:cNvSpPr txBox="1"/>
          <p:nvPr>
            <p:ph idx="1" type="body"/>
          </p:nvPr>
        </p:nvSpPr>
        <p:spPr>
          <a:xfrm>
            <a:off x="306791" y="1361638"/>
            <a:ext cx="2763900" cy="3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41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2"/>
          <p:cNvSpPr txBox="1"/>
          <p:nvPr>
            <p:ph type="title"/>
          </p:nvPr>
        </p:nvSpPr>
        <p:spPr>
          <a:xfrm>
            <a:off x="482530" y="441092"/>
            <a:ext cx="6267600" cy="40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42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3"/>
          <p:cNvSpPr/>
          <p:nvPr/>
        </p:nvSpPr>
        <p:spPr>
          <a:xfrm>
            <a:off x="4500000" y="-122"/>
            <a:ext cx="4500000" cy="50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3"/>
          <p:cNvSpPr txBox="1"/>
          <p:nvPr>
            <p:ph type="title"/>
          </p:nvPr>
        </p:nvSpPr>
        <p:spPr>
          <a:xfrm>
            <a:off x="261319" y="1208360"/>
            <a:ext cx="3981600" cy="14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43"/>
          <p:cNvSpPr txBox="1"/>
          <p:nvPr>
            <p:ph idx="1" type="subTitle"/>
          </p:nvPr>
        </p:nvSpPr>
        <p:spPr>
          <a:xfrm>
            <a:off x="261319" y="2746670"/>
            <a:ext cx="3981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43"/>
          <p:cNvSpPr txBox="1"/>
          <p:nvPr>
            <p:ph idx="2" type="body"/>
          </p:nvPr>
        </p:nvSpPr>
        <p:spPr>
          <a:xfrm>
            <a:off x="4861713" y="709505"/>
            <a:ext cx="3776700" cy="36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43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4"/>
          <p:cNvSpPr txBox="1"/>
          <p:nvPr>
            <p:ph idx="1" type="body"/>
          </p:nvPr>
        </p:nvSpPr>
        <p:spPr>
          <a:xfrm>
            <a:off x="306791" y="4145445"/>
            <a:ext cx="59043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44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5"/>
          <p:cNvSpPr txBox="1"/>
          <p:nvPr>
            <p:ph hasCustomPrompt="1" type="title"/>
          </p:nvPr>
        </p:nvSpPr>
        <p:spPr>
          <a:xfrm>
            <a:off x="306791" y="1083867"/>
            <a:ext cx="8386500" cy="192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45"/>
          <p:cNvSpPr txBox="1"/>
          <p:nvPr>
            <p:ph idx="1" type="body"/>
          </p:nvPr>
        </p:nvSpPr>
        <p:spPr>
          <a:xfrm>
            <a:off x="306791" y="3088794"/>
            <a:ext cx="8386500" cy="12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45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6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/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4"/>
          <p:cNvSpPr txBox="1"/>
          <p:nvPr>
            <p:ph idx="1" type="body"/>
          </p:nvPr>
        </p:nvSpPr>
        <p:spPr>
          <a:xfrm>
            <a:off x="306791" y="1129284"/>
            <a:ext cx="83865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4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360000"/>
            <a:ext cx="81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2D2D"/>
                </a:solidFill>
                <a:latin typeface="Calibri"/>
              </a:defRPr>
            </a:pPr>
            <a:r>
              <a:t>Частотно-ориентированная обработка</a:t>
            </a:r>
            <a:br/>
            <a:r>
              <a:t>для субъект-инвариантного распознавания жестов</a:t>
            </a:r>
            <a:br/>
            <a:r>
              <a:t>по сигналам поверхностной ЭМГ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1980000"/>
            <a:ext cx="81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От декомпозиции сигнала к побандовому смешиванию стилей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2700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D2D2D"/>
                </a:solidFill>
                <a:latin typeface="Calibri"/>
              </a:defRPr>
            </a:pPr>
            <a:r>
              <a:t>Выполнил: К. С. Голован</a:t>
            </a:r>
            <a:br/>
            <a:r>
              <a:t>Научный руководитель: И. А. Зверева, канд. техн. наук, доцент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3600000"/>
            <a:ext cx="81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Магистерская программа «Управление в сфере науки, технологий и инноваций»</a:t>
            </a:r>
            <a:br/>
            <a:r>
              <a:t>НИУ ВШЭ,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8A"/>
                </a:solidFill>
                <a:latin typeface="Calibri"/>
              </a:defRPr>
            </a:pPr>
            <a:r>
              <a:t>Теоретический анализ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81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500" b="1">
                <a:solidFill>
                  <a:srgbClr val="2D2D2D"/>
                </a:solidFill>
                <a:latin typeface="Calibri"/>
              </a:defRPr>
            </a:pPr>
            <a:r>
              <a:t>Межсубъектное распознавание пЭМГ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NinaPro DB2 — стандартный бенчмарк (67 субъектов, 12 каналов, 2000 Гц)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Лучшие LOSO-результаты: 33–34% macro-F1 (CNN, SVM)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Основное узкое место — межсубъектная вариабельность, а не ёмкость модели</a:t>
            </a:r>
          </a:p>
          <a:p>
            <a:pPr>
              <a:spcBef>
                <a:spcPts val="400"/>
              </a:spcBef>
              <a:defRPr sz="8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500" b="1">
                <a:solidFill>
                  <a:srgbClr val="2D2D2D"/>
                </a:solidFill>
                <a:latin typeface="Calibri"/>
              </a:defRPr>
            </a:pPr>
            <a:r>
              <a:t>Подходы к доменной генерализации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Глобальная нормализация: Instance Norm, Batch Norm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Доменная адаптация: MMD, DANN (требует данных целевого домена)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MixStyle: смешивание статистик признаков между доменами (0 параметров)</a:t>
            </a:r>
          </a:p>
          <a:p>
            <a:pPr>
              <a:spcBef>
                <a:spcPts val="400"/>
              </a:spcBef>
              <a:defRPr sz="8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500" b="1">
                <a:solidFill>
                  <a:srgbClr val="2D2D2D"/>
                </a:solidFill>
                <a:latin typeface="Calibri"/>
              </a:defRPr>
            </a:pPr>
            <a:r>
              <a:t>Частотная обработка биосигналов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VMD (Variational Mode Decomposition) — оптимизационная декомпозиция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SincNet — обучаемые полосовые фильтры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Вейвлетные и время-частотные признаки</a:t>
            </a:r>
          </a:p>
          <a:p>
            <a:pPr>
              <a:spcBef>
                <a:spcPts val="400"/>
              </a:spcBef>
              <a:defRPr sz="8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2D2D2D"/>
                </a:solidFill>
                <a:latin typeface="Calibri"/>
              </a:defRPr>
            </a:pPr>
            <a:r>
              <a:t>Изучено &gt;30 источников: Atzori (2016), Zhou (2021), Dragomiretskiy (2014), и др.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8A"/>
                </a:solidFill>
                <a:latin typeface="Calibri"/>
              </a:defRPr>
            </a:pPr>
            <a:r>
              <a:t>Проблема и актуальность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504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Проблема:</a:t>
            </a:r>
            <a:br/>
            <a:r>
              <a:t>Неустойчивость моделей распознавания жестов</a:t>
            </a:r>
            <a:br/>
            <a:r>
              <a:t>по пЭМГ при переносе между субъектами.</a:t>
            </a:r>
            <a:br/>
            <a:br/>
            <a:r>
              <a:t>Модели, обученные на группе пользователей, резко</a:t>
            </a:r>
            <a:br/>
            <a:r>
              <a:t>деградируют при применении к новому человеку</a:t>
            </a:r>
            <a:br/>
            <a:r>
              <a:t>из-за физиологических различий: расположение</a:t>
            </a:r>
            <a:br/>
            <a:r>
              <a:t>электродов, импеданс кожи, паттерны</a:t>
            </a:r>
            <a:br/>
            <a:r>
              <a:t>рекрутирования моторных единиц.</a:t>
            </a:r>
            <a:br/>
            <a:br/>
            <a:r>
              <a:t>Актуальность:</a:t>
            </a:r>
            <a:br/>
            <a:r>
              <a:t>• Управление протезами кисти требует распознавания</a:t>
            </a:r>
            <a:br/>
            <a:r>
              <a:t>  жестов, устойчивого к смене пользователя</a:t>
            </a:r>
            <a:br/>
            <a:r>
              <a:t>• Калибровка на каждого пользователя — дорогая</a:t>
            </a:r>
            <a:br/>
            <a:r>
              <a:t>  и непрактичная</a:t>
            </a:r>
            <a:br/>
            <a:r>
              <a:t>• Существующие подходы ≤34% F1 в LOSO-валидации</a:t>
            </a:r>
            <a:br/>
            <a:r>
              <a:t>• Нет открытого конвейера предобработки,</a:t>
            </a:r>
            <a:br/>
            <a:r>
              <a:t>  учитывающего спектральную неоднородность</a:t>
            </a:r>
            <a:br/>
            <a:r>
              <a:t>  межсубъектных различий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0000" y="900000"/>
            <a:ext cx="306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Масштаб проблемы:</a:t>
            </a:r>
            <a:br/>
            <a:br/>
            <a:r>
              <a:t>🌍 58 млн человек в мире</a:t>
            </a:r>
            <a:br/>
            <a:r>
              <a:t>     живут с ампутацией конечностей</a:t>
            </a:r>
            <a:br/>
            <a:br/>
            <a:r>
              <a:t>🇷🇺 11,1 млн граждан РФ</a:t>
            </a:r>
            <a:br/>
            <a:r>
              <a:t>     с инвалидностью</a:t>
            </a:r>
            <a:br/>
            <a:br/>
            <a:r>
              <a:t>💰 194 млрд руб.</a:t>
            </a:r>
            <a:br/>
            <a:r>
              <a:t>     рынок ассистивных технологий РФ</a:t>
            </a:r>
            <a:br/>
            <a:br/>
            <a:r>
              <a:t>📈 59 млрд руб.</a:t>
            </a:r>
            <a:br/>
            <a:r>
              <a:t>     госфинансирование протезирования</a:t>
            </a:r>
            <a:br/>
            <a:r>
              <a:t>     в 2024 г. (+25% г/г)</a:t>
            </a:r>
            <a:br/>
            <a:br/>
            <a:r>
              <a:t>🔬 $0,8–1,0 млрд</a:t>
            </a:r>
            <a:br/>
            <a:r>
              <a:t>     мировой рынок протезов</a:t>
            </a:r>
            <a:br/>
            <a:r>
              <a:t>     верхних конечностей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8A"/>
                </a:solidFill>
                <a:latin typeface="Calibri"/>
              </a:defRPr>
            </a:pPr>
            <a:r>
              <a:t>Разрыв в знаниях и новизна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81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500" b="1">
                <a:solidFill>
                  <a:srgbClr val="2D2D2D"/>
                </a:solidFill>
                <a:latin typeface="Calibri"/>
              </a:defRPr>
            </a:pPr>
            <a:r>
              <a:t>Разрыв в знаниях:</a:t>
            </a:r>
          </a:p>
          <a:p>
            <a:pPr>
              <a:spcBef>
                <a:spcPts val="400"/>
              </a:spcBef>
              <a:defRPr sz="1300" b="0">
                <a:solidFill>
                  <a:srgbClr val="2D2D2D"/>
                </a:solidFill>
                <a:latin typeface="Calibri"/>
              </a:defRPr>
            </a:pPr>
            <a:r>
              <a:t>Межсубъектная вариабельность пЭМГ неравномерна по спектру,</a:t>
            </a:r>
          </a:p>
          <a:p>
            <a:pPr>
              <a:spcBef>
                <a:spcPts val="400"/>
              </a:spcBef>
              <a:defRPr sz="1300" b="0">
                <a:solidFill>
                  <a:srgbClr val="2D2D2D"/>
                </a:solidFill>
                <a:latin typeface="Calibri"/>
              </a:defRPr>
            </a:pPr>
            <a:r>
              <a:t>но существующие подходы к инвариантности обрабатывают все частоты</a:t>
            </a:r>
          </a:p>
          <a:p>
            <a:pPr>
              <a:spcBef>
                <a:spcPts val="400"/>
              </a:spcBef>
              <a:defRPr sz="1300" b="0">
                <a:solidFill>
                  <a:srgbClr val="2D2D2D"/>
                </a:solidFill>
                <a:latin typeface="Calibri"/>
              </a:defRPr>
            </a:pPr>
            <a:r>
              <a:t>одинаково. Неизвестно, можно ли использовать частотную структуру</a:t>
            </a:r>
          </a:p>
          <a:p>
            <a:pPr>
              <a:spcBef>
                <a:spcPts val="400"/>
              </a:spcBef>
              <a:defRPr sz="1300" b="0">
                <a:solidFill>
                  <a:srgbClr val="2D2D2D"/>
                </a:solidFill>
                <a:latin typeface="Calibri"/>
              </a:defRPr>
            </a:pPr>
            <a:r>
              <a:t>вариабельности для улучшения межсубъектной генерализации.</a:t>
            </a:r>
          </a:p>
          <a:p>
            <a:pPr>
              <a:spcBef>
                <a:spcPts val="400"/>
              </a:spcBef>
              <a:defRPr sz="8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500" b="1">
                <a:solidFill>
                  <a:srgbClr val="2D2D2D"/>
                </a:solidFill>
                <a:latin typeface="Calibri"/>
              </a:defRPr>
            </a:pPr>
            <a:r>
              <a:t>Научная новизна:</a:t>
            </a:r>
          </a:p>
          <a:p>
            <a:pPr>
              <a:spcBef>
                <a:spcPts val="400"/>
              </a:spcBef>
              <a:defRPr sz="1300" b="0">
                <a:solidFill>
                  <a:srgbClr val="2D2D2D"/>
                </a:solidFill>
                <a:latin typeface="Calibri"/>
              </a:defRPr>
            </a:pPr>
            <a:r>
              <a:t>Предлагается первый открытый конвейер сравнения частотно-</a:t>
            </a:r>
          </a:p>
          <a:p>
            <a:pPr>
              <a:spcBef>
                <a:spcPts val="400"/>
              </a:spcBef>
              <a:defRPr sz="1300" b="0">
                <a:solidFill>
                  <a:srgbClr val="2D2D2D"/>
                </a:solidFill>
                <a:latin typeface="Calibri"/>
              </a:defRPr>
            </a:pPr>
            <a:r>
              <a:t>селективной и глобальной стратегий инвариантности для</a:t>
            </a:r>
          </a:p>
          <a:p>
            <a:pPr>
              <a:spcBef>
                <a:spcPts val="400"/>
              </a:spcBef>
              <a:defRPr sz="1300" b="0">
                <a:solidFill>
                  <a:srgbClr val="2D2D2D"/>
                </a:solidFill>
                <a:latin typeface="Calibri"/>
              </a:defRPr>
            </a:pPr>
            <a:r>
              <a:t>межсубъектного распознавания жестов по пЭМГ.</a:t>
            </a:r>
          </a:p>
          <a:p>
            <a:pPr>
              <a:spcBef>
                <a:spcPts val="400"/>
              </a:spcBef>
              <a:defRPr sz="1300" b="0">
                <a:solidFill>
                  <a:srgbClr val="2D2D2D"/>
                </a:solidFill>
                <a:latin typeface="Calibri"/>
              </a:defRPr>
            </a:pPr>
            <a:r>
              <a:t>В рамках этого конвейера:</a:t>
            </a:r>
          </a:p>
          <a:p>
            <a:pPr>
              <a:spcBef>
                <a:spcPts val="400"/>
              </a:spcBef>
              <a:defRPr sz="4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1. Количественно обоснована зависимость межсубъектной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   вариабельности от частоты (10-кратный градиент КВ)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2. Разработан конвейер: декомпозиция на поддиапазоны +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   побандовое смешивание стилей (+4,2 п.п. macro-F1)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3. Предложена архитектура SCG-Net со спектральным вентилем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   контента — обучаемым разделением стилевой и содержательной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   информации по частотным полосам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8A"/>
                </a:solidFill>
                <a:latin typeface="Calibri"/>
              </a:defRPr>
            </a:pPr>
            <a:r>
              <a:t>Цель исследования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81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800" b="1">
                <a:solidFill>
                  <a:srgbClr val="2D2D2D"/>
                </a:solidFill>
                <a:latin typeface="Calibri"/>
              </a:defRPr>
            </a:pPr>
            <a:r>
              <a:t>Цель: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  <a:latin typeface="Calibri"/>
              </a:defRPr>
            </a:pPr>
            <a:r>
              <a:t>Исследовать, превосходит ли частотно-селективная обработка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  <a:latin typeface="Calibri"/>
              </a:defRPr>
            </a:pPr>
            <a:r>
              <a:t>глобальные подходы к инвариантности для межсубъектного</a:t>
            </a:r>
          </a:p>
          <a:p>
            <a:pPr>
              <a:spcBef>
                <a:spcPts val="400"/>
              </a:spcBef>
              <a:defRPr sz="1500" b="0">
                <a:solidFill>
                  <a:srgbClr val="2D2D2D"/>
                </a:solidFill>
                <a:latin typeface="Calibri"/>
              </a:defRPr>
            </a:pPr>
            <a:r>
              <a:t>распознавания жестов по сигналам пЭМГ.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500" b="1">
                <a:solidFill>
                  <a:srgbClr val="2D2D2D"/>
                </a:solidFill>
                <a:latin typeface="Calibri"/>
              </a:defRPr>
            </a:pPr>
            <a:r>
              <a:t>Объект исследования:</a:t>
            </a:r>
          </a:p>
          <a:p>
            <a:pPr>
              <a:spcBef>
                <a:spcPts val="400"/>
              </a:spcBef>
              <a:defRPr sz="1300" b="0">
                <a:solidFill>
                  <a:srgbClr val="2D2D2D"/>
                </a:solidFill>
                <a:latin typeface="Calibri"/>
              </a:defRPr>
            </a:pPr>
            <a:r>
              <a:t>Методы межсубъектной генерализации в системах распознавания</a:t>
            </a:r>
          </a:p>
          <a:p>
            <a:pPr>
              <a:spcBef>
                <a:spcPts val="400"/>
              </a:spcBef>
              <a:defRPr sz="1300" b="0">
                <a:solidFill>
                  <a:srgbClr val="2D2D2D"/>
                </a:solidFill>
                <a:latin typeface="Calibri"/>
              </a:defRPr>
            </a:pPr>
            <a:r>
              <a:t>жестов по поверхностной электромиографии</a:t>
            </a:r>
          </a:p>
          <a:p>
            <a:pPr>
              <a:spcBef>
                <a:spcPts val="400"/>
              </a:spcBef>
              <a:defRPr sz="8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500" b="1">
                <a:solidFill>
                  <a:srgbClr val="2D2D2D"/>
                </a:solidFill>
                <a:latin typeface="Calibri"/>
              </a:defRPr>
            </a:pPr>
            <a:r>
              <a:t>Предмет исследования:</a:t>
            </a:r>
          </a:p>
          <a:p>
            <a:pPr>
              <a:spcBef>
                <a:spcPts val="400"/>
              </a:spcBef>
              <a:defRPr sz="1300" b="0">
                <a:solidFill>
                  <a:srgbClr val="2D2D2D"/>
                </a:solidFill>
                <a:latin typeface="Calibri"/>
              </a:defRPr>
            </a:pPr>
            <a:r>
              <a:t>Влияние частотно-селективной обработки (декомпозиция сигнала,</a:t>
            </a:r>
          </a:p>
          <a:p>
            <a:pPr>
              <a:spcBef>
                <a:spcPts val="400"/>
              </a:spcBef>
              <a:defRPr sz="1300" b="0">
                <a:solidFill>
                  <a:srgbClr val="2D2D2D"/>
                </a:solidFill>
                <a:latin typeface="Calibri"/>
              </a:defRPr>
            </a:pPr>
            <a:r>
              <a:t>побандовая нормализация стилей) на качество межсубъектного</a:t>
            </a:r>
          </a:p>
          <a:p>
            <a:pPr>
              <a:spcBef>
                <a:spcPts val="400"/>
              </a:spcBef>
              <a:defRPr sz="1300" b="0">
                <a:solidFill>
                  <a:srgbClr val="2D2D2D"/>
                </a:solidFill>
                <a:latin typeface="Calibri"/>
              </a:defRPr>
            </a:pPr>
            <a:r>
              <a:t>распознавания по сравнению с глобальной нормализацией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8A"/>
                </a:solidFill>
                <a:latin typeface="Calibri"/>
              </a:defRPr>
            </a:pPr>
            <a:r>
              <a:t>Гипотеза исследования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900000"/>
            <a:ext cx="72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2D2D"/>
                </a:solidFill>
                <a:latin typeface="Calibri"/>
              </a:defRPr>
            </a:pPr>
            <a:r>
              <a:t>За счёт декомпозиции сигнала пЭМГ на частотные полосы</a:t>
            </a:r>
            <a:br/>
            <a:r>
              <a:t>и избирательной нормализации стилей —</a:t>
            </a:r>
            <a:br/>
            <a:r>
              <a:t>сохранения низкочастотных полос</a:t>
            </a:r>
            <a:br/>
            <a:r>
              <a:t>и нормализации высокочастотных —</a:t>
            </a:r>
            <a:br/>
            <a:r>
              <a:t>межсубъектная генерализация повышается</a:t>
            </a:r>
            <a:br/>
            <a:r>
              <a:t>не менее чем на 4 п.п. по метрике macro-F1</a:t>
            </a:r>
            <a:br/>
            <a:r>
              <a:t>по сравнению с глобальной инвариантностью</a:t>
            </a:r>
            <a:br/>
            <a:r>
              <a:t>(NinaPro DB2, LOSO-валидация).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2700000"/>
            <a:ext cx="81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Операционализация — цепочка проверок:</a:t>
            </a:r>
            <a:br/>
            <a:br/>
            <a:r>
              <a:t>1. Спектральный анализ: зависит ли межсубъектная вариабельность от частоты?</a:t>
            </a:r>
            <a:br/>
            <a:r>
              <a:t>2. Декомпозиция: превосходит ли побандовая обработка монолитную?</a:t>
            </a:r>
            <a:br/>
            <a:r>
              <a:t>3. Стилевая нормализация: помогает ли мягкая аугментация, вредит ли жёсткая?</a:t>
            </a:r>
            <a:br/>
            <a:r>
              <a:t>4. Разделение контента/стиля: помогает ли явное разделение?</a:t>
            </a:r>
            <a:br/>
            <a:r>
              <a:t>5. Абляция: каков вклад каждого компонента?</a:t>
            </a:r>
            <a:br/>
            <a:r>
              <a:t>6. SCG-Net: обучается ли нейронная сеть частотному градиенту самостоятельно?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8A"/>
                </a:solidFill>
                <a:latin typeface="Calibri"/>
              </a:defRPr>
            </a:pPr>
            <a:r>
              <a:t>Методика проверки гипотезы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81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400" b="1">
                <a:solidFill>
                  <a:srgbClr val="2D2D2D"/>
                </a:solidFill>
                <a:latin typeface="Calibri"/>
              </a:defRPr>
            </a:pPr>
            <a:r>
              <a:t>Данные: NinaPro DB2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20 субъектов, 12 каналов, 2000 Гц, 10 жестов (Exercise E1)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Окна 200 мс (400 отсчётов), перекрытие 50%</a:t>
            </a:r>
          </a:p>
          <a:p>
            <a:pPr>
              <a:spcBef>
                <a:spcPts val="400"/>
              </a:spcBef>
              <a:defRPr sz="6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 b="1">
                <a:solidFill>
                  <a:srgbClr val="2D2D2D"/>
                </a:solidFill>
                <a:latin typeface="Calibri"/>
              </a:defRPr>
            </a:pPr>
            <a:r>
              <a:t>Валидация: строгий LOSO (Leave-One-Subject-Out)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19 субъектов — обучение (10% — валидация), 1 — тест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20 фолдов, macro-F1 как основная метрика</a:t>
            </a:r>
          </a:p>
          <a:p>
            <a:pPr>
              <a:spcBef>
                <a:spcPts val="400"/>
              </a:spcBef>
              <a:defRPr sz="6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 b="1">
                <a:solidFill>
                  <a:srgbClr val="2D2D2D"/>
                </a:solidFill>
                <a:latin typeface="Calibri"/>
              </a:defRPr>
            </a:pPr>
            <a:r>
              <a:t>Статистика: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Критерий знаковых рангов Уилкоксона (парный)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Поправка Холма–Бонферрони внутри семейств гипотез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Размер эффекта Коэна, бутстреп 95%-ДИ, побед/поражений по субъектам</a:t>
            </a:r>
          </a:p>
          <a:p>
            <a:pPr>
              <a:spcBef>
                <a:spcPts val="400"/>
              </a:spcBef>
              <a:defRPr sz="6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 b="1">
                <a:solidFill>
                  <a:srgbClr val="2D2D2D"/>
                </a:solidFill>
                <a:latin typeface="Calibri"/>
              </a:defRPr>
            </a:pPr>
            <a:r>
              <a:t>Экспериментальная платформа: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PyTorch, Adam (lr=10⁻³), ReduceLROnPlateau, ранняя остановка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• 80 эпох, GPU (NVIDIA RTX)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8A"/>
                </a:solidFill>
                <a:latin typeface="Calibri"/>
              </a:defRPr>
            </a:pPr>
            <a:r>
              <a:t>Источники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81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500" b="1">
                <a:solidFill>
                  <a:srgbClr val="2D2D2D"/>
                </a:solidFill>
                <a:latin typeface="Calibri"/>
              </a:defRPr>
            </a:pPr>
            <a:r>
              <a:t>NinaPro Database 2 (Atzori et al., 2014)</a:t>
            </a:r>
          </a:p>
          <a:p>
            <a:pPr>
              <a:spcBef>
                <a:spcPts val="400"/>
              </a:spcBef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40 здоровых субъектов (используем 20)</a:t>
            </a:r>
          </a:p>
          <a:p>
            <a:pPr>
              <a:spcBef>
                <a:spcPts val="400"/>
              </a:spcBef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12 беспроводных электродов Delsys Trigno</a:t>
            </a:r>
          </a:p>
          <a:p>
            <a:pPr>
              <a:spcBef>
                <a:spcPts val="400"/>
              </a:spcBef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Частота дискретизации: 2000 Гц</a:t>
            </a:r>
          </a:p>
          <a:p>
            <a:pPr>
              <a:spcBef>
                <a:spcPts val="400"/>
              </a:spcBef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Exercise E1: 10 хватательных жестов, 6 повторений каждый</a:t>
            </a:r>
          </a:p>
          <a:p>
            <a:pPr>
              <a:spcBef>
                <a:spcPts val="400"/>
              </a:spcBef>
              <a:defRPr sz="8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500" b="1">
                <a:solidFill>
                  <a:srgbClr val="2D2D2D"/>
                </a:solidFill>
                <a:latin typeface="Calibri"/>
              </a:defRPr>
            </a:pPr>
            <a:r>
              <a:t>Воспроизводимый бенчмарк (Голован, Зверева, 2025)</a:t>
            </a:r>
          </a:p>
          <a:p>
            <a:pPr>
              <a:spcBef>
                <a:spcPts val="400"/>
              </a:spcBef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Стандартизированный протокол LOSO на DB2</a:t>
            </a:r>
          </a:p>
          <a:p>
            <a:pPr>
              <a:spcBef>
                <a:spcPts val="400"/>
              </a:spcBef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Опубликованные базовый результаты: CNN/LSTM BiGRU (33,5% F1),</a:t>
            </a:r>
          </a:p>
          <a:p>
            <a:pPr>
              <a:spcBef>
                <a:spcPts val="400"/>
              </a:spcBef>
              <a:defRPr sz="1300" b="0">
                <a:solidFill>
                  <a:srgbClr val="2D2D2D"/>
                </a:solidFill>
                <a:latin typeface="Calibri"/>
              </a:defRPr>
            </a:pPr>
            <a:r>
              <a:t>  SVM-RBF (32,6% F1), Simple CNN (33,3% F1)</a:t>
            </a:r>
          </a:p>
          <a:p>
            <a:pPr>
              <a:spcBef>
                <a:spcPts val="400"/>
              </a:spcBef>
              <a:defRPr sz="8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500" b="1">
                <a:solidFill>
                  <a:srgbClr val="2D2D2D"/>
                </a:solidFill>
                <a:latin typeface="Calibri"/>
              </a:defRPr>
            </a:pPr>
            <a:r>
              <a:t>Код и данные:</a:t>
            </a:r>
          </a:p>
          <a:p>
            <a:pPr>
              <a:spcBef>
                <a:spcPts val="400"/>
              </a:spcBef>
              <a:defRPr sz="1300" b="0">
                <a:solidFill>
                  <a:srgbClr val="2D2D2D"/>
                </a:solidFill>
                <a:latin typeface="Calibri"/>
              </a:defRPr>
            </a:pPr>
            <a:r>
              <a:t>• Открытый код (GitHub), результаты воспроизводимы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8A"/>
                </a:solidFill>
                <a:latin typeface="Calibri"/>
              </a:defRPr>
            </a:pPr>
            <a:r>
              <a:t>Архитектура конвейера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4 этапа: (1) Декомпозиция на K=4 полосы → (2) Побандовый MixStyle (обучение) → (3) CNN-энкодеры → (4) MLP-классификатор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620000"/>
            <a:ext cx="39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Модуль декомпозиции:</a:t>
            </a:r>
            <a:br/>
            <a:r>
              <a:t>  • Sinc: 4 фиксированных полосовых фильтра (8 параметров)</a:t>
            </a:r>
            <a:br/>
            <a:r>
              <a:t>  • UVMD: развёрнутые 8 ADMM-итераций (44 параметра)</a:t>
            </a:r>
            <a:br/>
            <a:br/>
            <a:r>
              <a:t>Побандовый энкодер:</a:t>
            </a:r>
            <a:br/>
            <a:r>
              <a:t>  • Conv64–BN–ReLU → Conv128–BN–ReLU → AvgPool</a:t>
            </a:r>
            <a:br/>
            <a:r>
              <a:t>  • Каждый энкодер: R^(T×C) → R^128</a:t>
            </a:r>
            <a:br/>
            <a:r>
              <a:t>  • 4 энкодера → конкатенация z ∈ R^512</a:t>
            </a:r>
            <a:br/>
            <a:br/>
            <a:r>
              <a:t>MixStyle (0 параметров, только при обучении):</a:t>
            </a:r>
            <a:br/>
            <a:r>
              <a:t>  • Смешивание μ,σ между субъектами в мини-батче</a:t>
            </a:r>
            <a:br/>
            <a:r>
              <a:t>  • Побандовое применение (ключевое отличие)</a:t>
            </a:r>
            <a:br/>
            <a:br/>
            <a:r>
              <a:t>Классификатор: MLP 512→256→10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620000"/>
            <a:ext cx="378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Размер моделей:</a:t>
            </a:r>
            <a:br/>
            <a:br/>
            <a:r>
              <a:t>  Raw CNN (K=1):     64K параметров</a:t>
            </a:r>
            <a:br/>
            <a:r>
              <a:t>  Sinc FB (K=4):    250K параметров</a:t>
            </a:r>
            <a:br/>
            <a:r>
              <a:t>  + MixStyle:       +0 параметров</a:t>
            </a:r>
            <a:br/>
            <a:r>
              <a:t>  SCG-Net:          +4 параметра (вентили γ_k)</a:t>
            </a:r>
            <a:br/>
            <a:r>
              <a:t>  Адапт. смеш.:     +8 параметров (α_k, p_k)</a:t>
            </a:r>
            <a:br/>
            <a:br/>
            <a:r>
              <a:t>Ключевой вывод:</a:t>
            </a:r>
            <a:br/>
            <a:r>
              <a:t>Улучшение достигается через</a:t>
            </a:r>
            <a:br/>
            <a:r>
              <a:t>архитектурное решение,</a:t>
            </a:r>
            <a:br/>
            <a:r>
              <a:t>а не увеличение ёмкости модели.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C8A"/>
                </a:solidFill>
                <a:latin typeface="Calibri"/>
              </a:defRPr>
            </a:pPr>
            <a:r>
              <a:t>Результат 1: Спектральный анализ вариабельности</a:t>
            </a:r>
          </a:p>
        </p:txBody>
      </p:sp>
      <p:pic>
        <p:nvPicPr>
          <p:cNvPr id="3" name="Picture 2" descr="fig_h1_cv_by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900000"/>
            <a:ext cx="3960000" cy="24515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80000" y="900000"/>
            <a:ext cx="396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Нормированный CV растёт 10× от полосы</a:t>
            </a:r>
            <a:br/>
            <a:r>
              <a:t>моторных единиц (20–100 Гц, CV=0.20)</a:t>
            </a:r>
            <a:br/>
            <a:r>
              <a:t>до высокочастотного хвоста (700–1000 Гц, CV=2.04)</a:t>
            </a:r>
            <a:br/>
            <a:br/>
            <a:r>
              <a:t>Отношение Фишера движется в обратном</a:t>
            </a:r>
            <a:br/>
            <a:r>
              <a:t>направлении: 0.079 → 0.036</a:t>
            </a:r>
            <a:br/>
            <a:br/>
            <a:r>
              <a:t>➤ Низкие частоты:</a:t>
            </a:r>
            <a:br/>
            <a:r>
              <a:t>  мало вариабельны между субъектами,</a:t>
            </a:r>
            <a:br/>
            <a:r>
              <a:t>  более дискриминативны для жестов</a:t>
            </a:r>
            <a:br/>
            <a:br/>
            <a:r>
              <a:t>➤ Высокие частоты:</a:t>
            </a:r>
            <a:br/>
            <a:r>
              <a:t>  высоко вариабельны между субъектами,</a:t>
            </a:r>
            <a:br/>
            <a:r>
              <a:t>  мало дискриминативны для жестов</a:t>
            </a:r>
            <a:br/>
            <a:br/>
            <a:r>
              <a:t>Следствие: обрабатывать частоты</a:t>
            </a:r>
            <a:br/>
            <a:r>
              <a:t>по-разному, а не одинаково!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C8A"/>
                </a:solidFill>
                <a:latin typeface="Calibri"/>
              </a:defRPr>
            </a:pPr>
            <a:r>
              <a:t>Спектральный анализ: детализация по жестам</a:t>
            </a:r>
          </a:p>
        </p:txBody>
      </p:sp>
      <p:pic>
        <p:nvPicPr>
          <p:cNvPr id="3" name="Picture 2" descr="fig_h1_cv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900000"/>
            <a:ext cx="7200000" cy="26853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2000" y="3960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Нормированный CV монотонно растёт от низких к высоким частотам для каждого из 10 жестов — паттерн универсален.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8A"/>
                </a:solidFill>
                <a:latin typeface="Calibri"/>
              </a:defRPr>
            </a:pPr>
            <a:r>
              <a:t>Результат 2: Что не работает (глобальные подходы)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81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400" b="1">
                <a:solidFill>
                  <a:srgbClr val="2D2D2D"/>
                </a:solidFill>
                <a:latin typeface="Calibri"/>
              </a:defRPr>
            </a:pPr>
            <a:r>
              <a:t>Жёсткая Instance Normalization вредит: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• Глобальная IN: −7.0 п.п. F1 (d = −1.13, p &lt; 0.002)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• Побандовая IN: −8.5 п.п. F1 (d = −1.36, p &lt; 0.002)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• Причина: IN удаляет амплитудные паттерны, кодирующие жест</a:t>
            </a:r>
          </a:p>
          <a:p>
            <a:pPr>
              <a:spcBef>
                <a:spcPts val="400"/>
              </a:spcBef>
              <a:defRPr sz="6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 b="1">
                <a:solidFill>
                  <a:srgbClr val="2D2D2D"/>
                </a:solidFill>
                <a:latin typeface="Calibri"/>
              </a:defRPr>
            </a:pPr>
            <a:r>
              <a:t>Явное разделение контента и стиля вредит: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• Состязательное (GRL): −2.6 п.п. (d = −2.16, 0/20 улучшений)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• Минимизация взаимной информации: −3.9 п.п. (d = −0.97)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• Все потери вместе: −4.3 п.п. (d = −1.04)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• Причина: контент и стиль содержат общую информацию</a:t>
            </a:r>
          </a:p>
          <a:p>
            <a:pPr>
              <a:spcBef>
                <a:spcPts val="400"/>
              </a:spcBef>
              <a:defRPr sz="6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 b="1">
                <a:solidFill>
                  <a:srgbClr val="2D2D2D"/>
                </a:solidFill>
                <a:latin typeface="Calibri"/>
              </a:defRPr>
            </a:pPr>
            <a:r>
              <a:t>Усложнение архитектуры не помогает: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• K=6, K=8 полос, механизмы внимания, робастная оптимизация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• Критерий Фридмана: χ²=2.94, p=0.71</a:t>
            </a:r>
          </a:p>
          <a:p>
            <a:pPr>
              <a:spcBef>
                <a:spcPts val="400"/>
              </a:spcBef>
              <a:defRPr sz="6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200" b="1">
                <a:solidFill>
                  <a:srgbClr val="2D2D2D"/>
                </a:solidFill>
                <a:latin typeface="Calibri"/>
              </a:defRPr>
            </a:pPr>
            <a:r>
              <a:t>Вывод: простая архитектура K=4 + неявная аугментация лучше явного разделения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C8A"/>
                </a:solidFill>
                <a:latin typeface="Calibri"/>
              </a:defRPr>
            </a:pPr>
            <a:r>
              <a:t>Результат 3: Абляция — вклад каждого компонента</a:t>
            </a:r>
          </a:p>
        </p:txBody>
      </p:sp>
      <p:pic>
        <p:nvPicPr>
          <p:cNvPr id="3" name="Picture 2" descr="fig_h6h7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900000"/>
            <a:ext cx="4320000" cy="21308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60000" y="900000"/>
            <a:ext cx="378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Единая абляция (batch=512, LOSO):</a:t>
            </a:r>
            <a:br/>
            <a:br/>
            <a:r>
              <a:t>A: Свёрт. сеть       32,4% F1</a:t>
            </a:r>
            <a:br/>
            <a:r>
              <a:t>B: + Sinc-фильтрбанк  36,1% (+3,7 п.п., d=1,25) ★</a:t>
            </a:r>
            <a:br/>
            <a:r>
              <a:t>C: + смеш. стилей     37,2% (+1,1 п.п., d=0,42)</a:t>
            </a:r>
            <a:br/>
            <a:r>
              <a:t>D: + разд. конт./стиль 36,4% (−0,8 п.п.)</a:t>
            </a:r>
            <a:br/>
            <a:br/>
            <a:r>
              <a:t>★ Статистически значим (p_Холм &lt; 0,003)</a:t>
            </a:r>
            <a:br/>
            <a:r>
              <a:t>  18/20 субъектов улучшились</a:t>
            </a:r>
            <a:br/>
            <a:br/>
            <a:r>
              <a:t>Декомпозиция — наибольший</a:t>
            </a:r>
            <a:br/>
            <a:r>
              <a:t>отдельный вклад.</a:t>
            </a:r>
            <a:br/>
            <a:br/>
            <a:r>
              <a:t>Смешивание стилей устойчиво (18/20),</a:t>
            </a:r>
            <a:br/>
            <a:r>
              <a:t>но индивидуально p = 0,07.</a:t>
            </a:r>
            <a:br/>
            <a:br/>
            <a:r>
              <a:t>Разделение контента/стиля</a:t>
            </a:r>
            <a:br/>
            <a:r>
              <a:t>ухудшает → убираем.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C8A"/>
                </a:solidFill>
                <a:latin typeface="Calibri"/>
              </a:defRPr>
            </a:pPr>
            <a:r>
              <a:t>Результат 4: Универсальность смешивания стилей</a:t>
            </a:r>
          </a:p>
        </p:txBody>
      </p:sp>
      <p:pic>
        <p:nvPicPr>
          <p:cNvPr id="3" name="Picture 2" descr="fig_h7_per_sub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827999"/>
            <a:ext cx="7920000" cy="27796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2000" y="3600000"/>
            <a:ext cx="81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Calibri"/>
              </a:defRPr>
            </a:pPr>
            <a:r>
              <a:t>UVMD + смешивание стилей: +1,8 п.п. F1 (d=0,84, p_Холм &lt; 0,01, статистически значим).</a:t>
            </a:r>
            <a:br/>
            <a:r>
              <a:t>16/20 субъектов получают положительный прирост. Sinc и UVMD статистически неразличимы → выбор модуля декомпозиции не критичен.</a:t>
            </a:r>
            <a:br/>
            <a:r>
              <a:t>Воспроизведение при batch=64: 37,69% ± 6,85 (Уилкоксон p = 0,67 vs. batch=512).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8A"/>
                </a:solidFill>
                <a:latin typeface="Calibri"/>
              </a:defRPr>
            </a:pPr>
            <a:r>
              <a:t>Результат 5: Сеть обучает частотный градиент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81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400" b="1">
                <a:solidFill>
                  <a:srgbClr val="2D2D2D"/>
                </a:solidFill>
                <a:latin typeface="Calibri"/>
              </a:defRPr>
            </a:pPr>
            <a:r>
              <a:t>Адаптивное смешивание стилей (обучаемые α_k, p_k):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• Полоса 1 (НЧ): α=1,62, p&lt;0,001 — смешивание отключено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• Полоса 4 (ВЧ): α=16,28, p=0,040 — смешивание включено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• Отношение α₄/α₁ = 10× (зеркалит КВ из спектрального анализа)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• Spearman ρ = 0,775 (p &lt; 10⁻¹⁶)</a:t>
            </a:r>
          </a:p>
          <a:p>
            <a:pPr>
              <a:spcBef>
                <a:spcPts val="400"/>
              </a:spcBef>
              <a:defRPr sz="6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400" b="1">
                <a:solidFill>
                  <a:srgbClr val="2D2D2D"/>
                </a:solidFill>
                <a:latin typeface="Calibri"/>
              </a:defRPr>
            </a:pPr>
            <a:r>
              <a:t>SCG-Net (обучаемый спектральный вентиль γ_k ∈ [0,1]):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• Полосы 1–3 (НЧ–СЧ): γ &lt; 0,001 → стиль сохранён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• Полоса 4 (ВЧ): γ = 0,998 → стиль удалён (полная нормализация)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• Почти бинарное разделение: сеть сама «открывает»,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  что высокие частоты = субъектный шум</a:t>
            </a:r>
          </a:p>
          <a:p>
            <a:pPr>
              <a:spcBef>
                <a:spcPts val="400"/>
              </a:spcBef>
              <a:defRPr sz="6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300" b="1">
                <a:solidFill>
                  <a:srgbClr val="2D2D2D"/>
                </a:solidFill>
                <a:latin typeface="Calibri"/>
              </a:defRPr>
            </a:pPr>
            <a:r>
              <a:t>SCG-Net vs. полная нормализация: +6,86 п.п. F1 (p_Холм &lt; 0,001, 18/20 побед)</a:t>
            </a:r>
          </a:p>
          <a:p>
            <a:pPr>
              <a:spcBef>
                <a:spcPts val="400"/>
              </a:spcBef>
              <a:defRPr sz="4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300" b="1">
                <a:solidFill>
                  <a:srgbClr val="2D2D2D"/>
                </a:solidFill>
                <a:latin typeface="Calibri"/>
              </a:defRPr>
            </a:pPr>
            <a:r>
              <a:t>Три независимых свидетельства (анализ, адаптивное смешивание, SCG-Net)</a:t>
            </a:r>
          </a:p>
          <a:p>
            <a:pPr>
              <a:spcBef>
                <a:spcPts val="400"/>
              </a:spcBef>
              <a:defRPr sz="1300" b="0">
                <a:solidFill>
                  <a:srgbClr val="2D2D2D"/>
                </a:solidFill>
                <a:latin typeface="Calibri"/>
              </a:defRPr>
            </a:pPr>
            <a:r>
              <a:t>согласованно подтверждают частотную структуру вариабельности.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C8A"/>
                </a:solidFill>
                <a:latin typeface="Calibri"/>
              </a:defRPr>
            </a:pPr>
            <a:r>
              <a:t>Сравнение с опубликованными результатами</a:t>
            </a:r>
          </a:p>
        </p:txBody>
      </p:sp>
      <p:pic>
        <p:nvPicPr>
          <p:cNvPr id="3" name="Picture 2" descr="fig_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900000"/>
            <a:ext cx="4320000" cy="25048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60000" y="900000"/>
            <a:ext cx="378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NinaPro DB2 E1, 20 субъектов, LOSO:</a:t>
            </a:r>
            <a:br/>
            <a:br/>
            <a:r>
              <a:t>Опубликованные результаты:</a:t>
            </a:r>
            <a:br/>
            <a:r>
              <a:t>  CNN/LSTM BiGRU:   33,5% ± 8,0</a:t>
            </a:r>
            <a:br/>
            <a:r>
              <a:t>  Simple CNN:       33,3% ± 9,1</a:t>
            </a:r>
            <a:br/>
            <a:r>
              <a:t>  SVM-RBF (TD):     32,6% ± 7,7</a:t>
            </a:r>
            <a:br/>
            <a:br/>
            <a:r>
              <a:t>Наши результаты:</a:t>
            </a:r>
            <a:br/>
            <a:r>
              <a:t>  Sinc + смеш. ст.: 37,2% ± 6,2</a:t>
            </a:r>
            <a:br/>
            <a:r>
              <a:t>  UVMD + смеш. ст.: 37,7% ± 6,9</a:t>
            </a:r>
            <a:br/>
            <a:br/>
            <a:r>
              <a:t>Улучшение: +4,2 п.п. macro-F1</a:t>
            </a:r>
            <a:br/>
            <a:r>
              <a:t>(+12,5% относительно лучшего)</a:t>
            </a:r>
            <a:br/>
            <a:br/>
            <a:r>
              <a:t>Дополнительно: меньший</a:t>
            </a:r>
            <a:br/>
            <a:r>
              <a:t>межквартильный размах</a:t>
            </a:r>
            <a:br/>
            <a:r>
              <a:t>(6,2 vs. 8,0) — более стабильно.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8A"/>
                </a:solidFill>
                <a:latin typeface="Calibri"/>
              </a:defRPr>
            </a:pPr>
            <a:r>
              <a:t>Выводы по исследованию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900000"/>
            <a:ext cx="75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  <a:latin typeface="Calibri"/>
              </a:defRPr>
            </a:pPr>
            <a:r>
              <a:t>Гипотеза: частотно-селективная обработка повышает межсубъектную</a:t>
            </a:r>
            <a:br/>
            <a:r>
              <a:t>генерализацию не менее чем на 4 п.п. macro-F1 по сравнению с глобальной.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0000" y="1620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7A3A"/>
                </a:solidFill>
                <a:latin typeface="Calibri"/>
              </a:defRPr>
            </a:pPr>
            <a:r>
              <a:t>Гипотеза подтверждена: +4,2 п.п. (порог 4 п.п.)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2088000"/>
            <a:ext cx="81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Выводы:</a:t>
            </a:r>
            <a:br/>
            <a:br/>
            <a:r>
              <a:t>1. Межсубъектная вариабельность пЭМГ имеет выраженную частотную</a:t>
            </a:r>
            <a:br/>
            <a:r>
              <a:t>   структуру: нормированный КВ растёт 10× от НЧ к ВЧ.</a:t>
            </a:r>
            <a:br/>
            <a:br/>
            <a:r>
              <a:t>2. Частотная декомпозиция на 4 полосы — наибольший отдельный вклад:</a:t>
            </a:r>
            <a:br/>
            <a:r>
              <a:t>   +3,7 п.п. F1, d=1,25 (статистически значим, p_Холм &lt; 0,003).</a:t>
            </a:r>
            <a:br/>
            <a:br/>
            <a:r>
              <a:t>3. Побандовое смешивание стилей добавляет +1,1–1,8 п.п.,</a:t>
            </a:r>
            <a:br/>
            <a:r>
              <a:t>   статистически значимо на UVMD.</a:t>
            </a:r>
            <a:br/>
            <a:br/>
            <a:r>
              <a:t>4. Глобальные подходы (нормализация, состязательное разделение)</a:t>
            </a:r>
            <a:br/>
            <a:r>
              <a:t>   ухудшают на −2,6 – −8,5 п.п.</a:t>
            </a:r>
            <a:br/>
            <a:br/>
            <a:r>
              <a:t>5. Нейронная сеть (SCG-Net) самостоятельно обучает тот же</a:t>
            </a:r>
            <a:br/>
            <a:r>
              <a:t>   частотный градиент, подтверждая его объективность.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8A"/>
                </a:solidFill>
                <a:latin typeface="Calibri"/>
              </a:defRPr>
            </a:pPr>
            <a:r>
              <a:t>Перспективы и рекомендации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81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500" b="1">
                <a:solidFill>
                  <a:srgbClr val="2D2D2D"/>
                </a:solidFill>
                <a:latin typeface="Calibri"/>
              </a:defRPr>
            </a:pPr>
            <a:r>
              <a:t>Ограничения: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• Один датасет (NinaPro DB2 E1, 10 жестов, 12 каналов)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• 20 из 40 субъектов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• Не сравнивается с CORAL, DANN и другими методами DG</a:t>
            </a:r>
          </a:p>
          <a:p>
            <a:pPr>
              <a:spcBef>
                <a:spcPts val="400"/>
              </a:spcBef>
              <a:defRPr sz="6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500" b="1">
                <a:solidFill>
                  <a:srgbClr val="2D2D2D"/>
                </a:solidFill>
                <a:latin typeface="Calibri"/>
              </a:defRPr>
            </a:pPr>
            <a:r>
              <a:t>Перспективы: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• Валидация на других датасетах пЭМГ и аппаратуре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• Расширение до полного набора субъектов и жестов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• Комбинация частотно-селективной обработки с другими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  методами DG (CORAL, DRO)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• Применение к другим биосигналам (ЭЭГ, ЭКГ)</a:t>
            </a:r>
          </a:p>
          <a:p>
            <a:pPr>
              <a:spcBef>
                <a:spcPts val="400"/>
              </a:spcBef>
              <a:defRPr sz="6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500" b="1">
                <a:solidFill>
                  <a:srgbClr val="2D2D2D"/>
                </a:solidFill>
                <a:latin typeface="Calibri"/>
              </a:defRPr>
            </a:pPr>
            <a:r>
              <a:t>Рекомендации: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• При работе с пЭМГ: использовать декомпозицию, а не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  глобальную нормализацию для межсубъектной генерализации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• Sinc-фильтрбанк достаточен (UVMD не даёт преимущества)</a:t>
            </a:r>
          </a:p>
          <a:p>
            <a:pPr>
              <a:spcBef>
                <a:spcPts val="400"/>
              </a:spcBef>
              <a:defRPr sz="1200" b="0">
                <a:solidFill>
                  <a:srgbClr val="2D2D2D"/>
                </a:solidFill>
                <a:latin typeface="Calibri"/>
              </a:defRPr>
            </a:pPr>
            <a:r>
              <a:t>  • Простая архитектура (K=4) оптимальна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8A"/>
                </a:solidFill>
                <a:latin typeface="Calibri"/>
              </a:defRPr>
            </a:pPr>
            <a:r>
              <a:t>Исследование в научном поле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81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500" b="1">
                <a:solidFill>
                  <a:srgbClr val="2D2D2D"/>
                </a:solidFill>
                <a:latin typeface="Calibri"/>
              </a:defRPr>
            </a:pPr>
            <a:r>
              <a:t>Публикация:</a:t>
            </a:r>
          </a:p>
          <a:p>
            <a:pPr>
              <a:spcBef>
                <a:spcPts val="400"/>
              </a:spcBef>
              <a:defRPr sz="1300" b="0">
                <a:solidFill>
                  <a:srgbClr val="2D2D2D"/>
                </a:solidFill>
                <a:latin typeface="Calibri"/>
              </a:defRPr>
            </a:pPr>
            <a:r>
              <a:t>  «Частотно-ориентированная обработка для субъект-инвариантного</a:t>
            </a:r>
          </a:p>
          <a:p>
            <a:pPr>
              <a:spcBef>
                <a:spcPts val="400"/>
              </a:spcBef>
              <a:defRPr sz="1300" b="0">
                <a:solidFill>
                  <a:srgbClr val="2D2D2D"/>
                </a:solidFill>
                <a:latin typeface="Calibri"/>
              </a:defRPr>
            </a:pPr>
            <a:r>
              <a:t>  распознавания жестов по сигналам пЭМГ: от декомпозиции сигнала</a:t>
            </a:r>
          </a:p>
          <a:p>
            <a:pPr>
              <a:spcBef>
                <a:spcPts val="400"/>
              </a:spcBef>
              <a:defRPr sz="1300" b="0">
                <a:solidFill>
                  <a:srgbClr val="2D2D2D"/>
                </a:solidFill>
                <a:latin typeface="Calibri"/>
              </a:defRPr>
            </a:pPr>
            <a:r>
              <a:t>  к побандовому смешиванию стилей»</a:t>
            </a:r>
          </a:p>
          <a:p>
            <a:pPr>
              <a:spcBef>
                <a:spcPts val="400"/>
              </a:spcBef>
              <a:defRPr sz="8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300" b="0">
                <a:solidFill>
                  <a:srgbClr val="2D2D2D"/>
                </a:solidFill>
                <a:latin typeface="Calibri"/>
              </a:defRPr>
            </a:pPr>
            <a:r>
              <a:t>  Формат: научная статья (IEEE-формат, 11 страниц)</a:t>
            </a:r>
          </a:p>
          <a:p>
            <a:pPr>
              <a:spcBef>
                <a:spcPts val="400"/>
              </a:spcBef>
              <a:defRPr sz="8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500" b="1">
                <a:solidFill>
                  <a:srgbClr val="2D2D2D"/>
                </a:solidFill>
                <a:latin typeface="Calibri"/>
              </a:defRPr>
            </a:pPr>
            <a:r>
              <a:t>Предшествующая публикация:</a:t>
            </a:r>
          </a:p>
          <a:p>
            <a:pPr>
              <a:spcBef>
                <a:spcPts val="400"/>
              </a:spcBef>
              <a:defRPr sz="1300" b="0">
                <a:solidFill>
                  <a:srgbClr val="2D2D2D"/>
                </a:solidFill>
                <a:latin typeface="Calibri"/>
              </a:defRPr>
            </a:pPr>
            <a:r>
              <a:t>  Голован К. С., Зверева И. А. «Воспроизводимый бенчмарк для</a:t>
            </a:r>
          </a:p>
          <a:p>
            <a:pPr>
              <a:spcBef>
                <a:spcPts val="400"/>
              </a:spcBef>
              <a:defRPr sz="1300" b="0">
                <a:solidFill>
                  <a:srgbClr val="2D2D2D"/>
                </a:solidFill>
                <a:latin typeface="Calibri"/>
              </a:defRPr>
            </a:pPr>
            <a:r>
              <a:t>  межсубъектного распознавания жестов кисти по сигналам пЭМГ», 2025</a:t>
            </a:r>
          </a:p>
          <a:p>
            <a:pPr>
              <a:spcBef>
                <a:spcPts val="400"/>
              </a:spcBef>
              <a:defRPr sz="800" b="0">
                <a:solidFill>
                  <a:srgbClr val="2D2D2D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500" b="1">
                <a:solidFill>
                  <a:srgbClr val="2D2D2D"/>
                </a:solidFill>
                <a:latin typeface="Calibri"/>
              </a:defRPr>
            </a:pPr>
            <a:r>
              <a:t>Код:</a:t>
            </a:r>
          </a:p>
          <a:p>
            <a:pPr>
              <a:spcBef>
                <a:spcPts val="400"/>
              </a:spcBef>
              <a:defRPr sz="1300" b="0">
                <a:solidFill>
                  <a:srgbClr val="2D2D2D"/>
                </a:solidFill>
                <a:latin typeface="Calibri"/>
              </a:defRPr>
            </a:pPr>
            <a:r>
              <a:t>  Открытый репозиторий с воспроизводимыми экспериментами (GitHub)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8A"/>
                </a:solidFill>
                <a:latin typeface="Calibri"/>
              </a:defRPr>
            </a:pPr>
            <a:r>
              <a:t>Список источников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81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1. Atzori et al. (2016). Deep learning with CNN applied to EMG. Front. Neurorobot.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2. Atzori et al. (2014). NinaPro Database 2. Scientific Data.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3. Farina et al. (2014). Neural information from surface EMG. IEEE TNSRE.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4. Campbell et al. (2020). Confounding factors in myoelectric control. Sensors.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5. Côté-Allard et al. (2019). Deep learning with transfer learning for EMG. IEEE TNSRE.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6. Du et al. (2017). Inter-session EMG with domain adaptation. Sensors.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7. Phinyomark et al. (2012). Feature selection for EMG. Expert Syst. Appl.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8. Голован, Зверева (2025). Воспроизводимый LOSO-бенчмарк для пЭМГ.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9. Dragomiretskiy, Zosso (2014). Variational Mode Decomposition. IEEE TSP.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10. Ravanelli, Bengio (2018). SincNet for speaker recognition. Proc. SLT.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11. Zhou et al. (2021). MixStyle for domain generalization. Proc. ICLR.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12. Hudgins et al. (1993). Multifunction myoelectric control. IEEE TBME.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13. Englehart, Hudgins (2003). Real-time multifunction control. IEEE TBME.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14. Scheme, Englehart (2011). EMG pattern recognition challenges. JRRD.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15. Pizzolato et al. (2017). Comparison of EMG setups. PLoS ONE.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C8A"/>
                </a:solidFill>
                <a:latin typeface="Calibri"/>
              </a:defRPr>
            </a:pPr>
            <a:r>
              <a:t>Список источников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92000"/>
            <a:ext cx="81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16. Zhai et al. (2017). Self-recalibrating EMG with CNN. Front. Neurosci.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17. Wei et al. (2019). Multi-stream CNN for sEMG. Pattern Recognit. Lett.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18. Ketykó et al. (2019). Domain adaptation for sEMG with RNN. Proc. IJCNN.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19. Huang et al. (1998). EMD and Hilbert spectrum. Proc. R. Soc. Lond. A.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20. Rehman, Mandic (2010). Multivariate EMD. Proc. R. Soc. A.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21. Englehart et al. (1999). Time-frequency representations for EMG. MBEC.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22. Phinyomark, Scheme (2018). EMG pattern recognition in era of deep learning.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23. Borra et al. (2020). SincNet for EEG. Neural Networks.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24. Ioffe, Szegedy (2015). Batch Normalization. Proc. ICML.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25. Ulyanov et al. (2016). Instance Normalization. arXiv.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26. Huang, Belongie (2017). AdaIN for style transfer. Proc. ICCV.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27. Sagawa et al. (2020). Group DRO. Proc. ICLR.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28. Arjovsky et al. (2019). Invariant Risk Minimization. arXiv.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29. Ganin et al. (2016). Domain-adversarial training. JMLR.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30. Wang et al. (2023). Domain generalization survey. IEEE TKDE.</a:t>
            </a:r>
          </a:p>
          <a:p>
            <a:pPr>
              <a:spcBef>
                <a:spcPts val="400"/>
              </a:spcBef>
              <a:defRPr sz="1000" b="0">
                <a:solidFill>
                  <a:srgbClr val="2D2D2D"/>
                </a:solidFill>
                <a:latin typeface="Calibri"/>
              </a:defRPr>
            </a:pPr>
            <a:r>
              <a:t>31. Holm (1979). Sequential rejective multiple test procedure. Scand. J. Stat.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080000"/>
            <a:ext cx="81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D2D2D"/>
                </a:solidFill>
                <a:latin typeface="Calibri"/>
              </a:defRPr>
            </a:pPr>
            <a: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2340000"/>
            <a:ext cx="81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5C8A"/>
                </a:solidFill>
                <a:latin typeface="Calibri"/>
              </a:defRPr>
            </a:pPr>
            <a:r>
              <a:t>Ключевой вывод: в пЭМГ субъект-инвариантность</a:t>
            </a:r>
            <a:br/>
            <a:r>
              <a:t>следует строить частотно-селективно, а не глобально.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3240000"/>
            <a:ext cx="81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К. С. Голован | kgolovan@edu.hse.ru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