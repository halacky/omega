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040000" cx="9000000"/>
  <p:notesSz cx="6858000" cy="9144000"/>
  <p:embeddedFontLst>
    <p:embeddedFont>
      <p:font typeface="Libre Franklin"/>
      <p:regular r:id="rId43"/>
      <p:bold r:id="rId44"/>
      <p:italic r:id="rId45"/>
      <p:boldItalic r:id="rId46"/>
    </p:embeddedFont>
    <p:embeddedFont>
      <p:font typeface="Montserrat"/>
      <p:regular r:id="rId47"/>
      <p:bold r:id="rId48"/>
      <p:italic r:id="rId49"/>
      <p:boldItalic r:id="rId50"/>
    </p:embeddedFont>
    <p:embeddedFont>
      <p:font typeface="Quattrocento Sans"/>
      <p:regular r:id="rId51"/>
      <p:bold r:id="rId52"/>
      <p:italic r:id="rId53"/>
      <p:boldItalic r:id="rId54"/>
    </p:embeddedFont>
    <p:embeddedFont>
      <p:font typeface="Arial Black"/>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90">
          <p15:clr>
            <a:srgbClr val="747775"/>
          </p15:clr>
        </p15:guide>
        <p15:guide id="2" pos="5380">
          <p15:clr>
            <a:srgbClr val="747775"/>
          </p15:clr>
        </p15:guide>
        <p15:guide id="3" orient="horz" pos="147">
          <p15:clr>
            <a:srgbClr val="747775"/>
          </p15:clr>
        </p15:guide>
        <p15:guide id="4" orient="horz" pos="3028">
          <p15:clr>
            <a:srgbClr val="747775"/>
          </p15:clr>
        </p15:guide>
        <p15:guide id="5" orient="horz" pos="534">
          <p15:clr>
            <a:srgbClr val="747775"/>
          </p15:clr>
        </p15:guide>
        <p15:guide id="6" orient="horz" pos="843">
          <p15:clr>
            <a:srgbClr val="747775"/>
          </p15:clr>
        </p15:guide>
        <p15:guide id="7" orient="horz" pos="1152">
          <p15:clr>
            <a:srgbClr val="747775"/>
          </p15:clr>
        </p15:guide>
      </p15:sldGuideLst>
    </p:ext>
    <p:ext uri="GoogleSlidesCustomDataVersion2">
      <go:slidesCustomData xmlns:go="http://customooxmlschemas.google.com/" r:id="rId56" roundtripDataSignature="AMtx7miMaggfnOBdaYx7bGNQ5QFtCz2N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0"/>
        <p:guide pos="5380"/>
        <p:guide pos="147" orient="horz"/>
        <p:guide pos="3028" orient="horz"/>
        <p:guide pos="534" orient="horz"/>
        <p:guide pos="843" orient="horz"/>
        <p:guide pos="115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LibreFranklin-bold.fntdata"/><Relationship Id="rId43" Type="http://schemas.openxmlformats.org/officeDocument/2006/relationships/font" Target="fonts/LibreFranklin-regular.fntdata"/><Relationship Id="rId46" Type="http://schemas.openxmlformats.org/officeDocument/2006/relationships/font" Target="fonts/LibreFranklin-boldItalic.fntdata"/><Relationship Id="rId45" Type="http://schemas.openxmlformats.org/officeDocument/2006/relationships/font" Target="fonts/LibreFranklin-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QuattrocentoSans-regular.fntdata"/><Relationship Id="rId50" Type="http://schemas.openxmlformats.org/officeDocument/2006/relationships/font" Target="fonts/Montserrat-boldItalic.fntdata"/><Relationship Id="rId53" Type="http://schemas.openxmlformats.org/officeDocument/2006/relationships/font" Target="fonts/QuattrocentoSans-italic.fntdata"/><Relationship Id="rId52" Type="http://schemas.openxmlformats.org/officeDocument/2006/relationships/font" Target="fonts/QuattrocentoSans-bold.fntdata"/><Relationship Id="rId11" Type="http://schemas.openxmlformats.org/officeDocument/2006/relationships/slide" Target="slides/slide6.xml"/><Relationship Id="rId55" Type="http://schemas.openxmlformats.org/officeDocument/2006/relationships/font" Target="fonts/ArialBlack-regular.fntdata"/><Relationship Id="rId10" Type="http://schemas.openxmlformats.org/officeDocument/2006/relationships/slide" Target="slides/slide5.xml"/><Relationship Id="rId54" Type="http://schemas.openxmlformats.org/officeDocument/2006/relationships/font" Target="fonts/QuattrocentoSans-bold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367785" y="685800"/>
            <a:ext cx="6122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d0e75760e_0_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ad0e75760e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d0e75760e_0_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ad0e7576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2559ca67e_0_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c2559ca67e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d0e75760e_0_8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ad0e75760e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d0e75760e_0_2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ad0e75760e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2559ca67e_0_6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c2559ca67e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2559ca67e_0_17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2559ca67e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2d02d8251_1_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c2d02d8251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2559ca67e_0_36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c2559ca67e_0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2559ca67e_0_23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3c2559ca67e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2559ca67e_0_29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3c2559ca67e_0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2559ca67e_0_30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c2559ca67e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2559ca67e_0_30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c2559ca67e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body">
  <p:cSld name="3_Title and body">
    <p:spTree>
      <p:nvGrpSpPr>
        <p:cNvPr id="9" name="Shape 9"/>
        <p:cNvGrpSpPr/>
        <p:nvPr/>
      </p:nvGrpSpPr>
      <p:grpSpPr>
        <a:xfrm>
          <a:off x="0" y="0"/>
          <a:ext cx="0" cy="0"/>
          <a:chOff x="0" y="0"/>
          <a:chExt cx="0" cy="0"/>
        </a:xfrm>
      </p:grpSpPr>
      <p:sp>
        <p:nvSpPr>
          <p:cNvPr id="10" name="Google Shape;10;p35"/>
          <p:cNvSpPr txBox="1"/>
          <p:nvPr>
            <p:ph type="title"/>
          </p:nvPr>
        </p:nvSpPr>
        <p:spPr>
          <a:xfrm>
            <a:off x="320992" y="205833"/>
            <a:ext cx="8400000" cy="1084800"/>
          </a:xfrm>
          <a:prstGeom prst="rect">
            <a:avLst/>
          </a:prstGeom>
          <a:noFill/>
          <a:ln>
            <a:noFill/>
          </a:ln>
        </p:spPr>
        <p:txBody>
          <a:bodyPr anchorCtr="0" anchor="t" bIns="33375" lIns="33375" spcFirstLastPara="1" rIns="33375" wrap="square" tIns="33375">
            <a:noAutofit/>
          </a:bodyPr>
          <a:lstStyle>
            <a:lvl1pPr lvl="0" marR="0" algn="l">
              <a:lnSpc>
                <a:spcPct val="100000"/>
              </a:lnSpc>
              <a:spcBef>
                <a:spcPts val="0"/>
              </a:spcBef>
              <a:spcAft>
                <a:spcPts val="0"/>
              </a:spcAft>
              <a:buClr>
                <a:schemeClr val="dk1"/>
              </a:buClr>
              <a:buSzPts val="3100"/>
              <a:buFont typeface="Arial Black"/>
              <a:buNone/>
              <a:defRPr b="1" i="0" sz="3100" u="none" cap="none" strike="noStrike">
                <a:solidFill>
                  <a:srgbClr val="0072BC"/>
                </a:solidFill>
                <a:latin typeface="Arial Black"/>
                <a:ea typeface="Arial Black"/>
                <a:cs typeface="Arial Black"/>
                <a:sym typeface="Arial Black"/>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1" name="Google Shape;11;p35"/>
          <p:cNvSpPr txBox="1"/>
          <p:nvPr>
            <p:ph idx="1" type="body"/>
          </p:nvPr>
        </p:nvSpPr>
        <p:spPr>
          <a:xfrm>
            <a:off x="338765" y="1435000"/>
            <a:ext cx="3925500" cy="3008400"/>
          </a:xfrm>
          <a:prstGeom prst="rect">
            <a:avLst/>
          </a:prstGeom>
          <a:noFill/>
          <a:ln>
            <a:noFill/>
          </a:ln>
        </p:spPr>
        <p:txBody>
          <a:bodyPr anchorCtr="0" anchor="t" bIns="33375" lIns="33375" spcFirstLastPara="1" rIns="33375" wrap="square" tIns="33375">
            <a:noAutofit/>
          </a:bodyPr>
          <a:lstStyle>
            <a:lvl1pPr indent="-228600" lvl="0" marL="457200" algn="l">
              <a:lnSpc>
                <a:spcPct val="100000"/>
              </a:lnSpc>
              <a:spcBef>
                <a:spcPts val="0"/>
              </a:spcBef>
              <a:spcAft>
                <a:spcPts val="0"/>
              </a:spcAft>
              <a:buSzPts val="1200"/>
              <a:buFont typeface="Libre Franklin"/>
              <a:buNone/>
              <a:defRPr b="0" i="0" sz="1200" u="none" cap="none" strike="noStrike">
                <a:solidFill>
                  <a:schemeClr val="dk2"/>
                </a:solidFill>
                <a:latin typeface="Libre Franklin"/>
                <a:ea typeface="Libre Franklin"/>
                <a:cs typeface="Libre Franklin"/>
                <a:sym typeface="Libre Franklin"/>
              </a:defRPr>
            </a:lvl1pPr>
            <a:lvl2pPr indent="-228600" lvl="1" marL="914400" algn="l">
              <a:lnSpc>
                <a:spcPct val="115000"/>
              </a:lnSpc>
              <a:spcBef>
                <a:spcPts val="600"/>
              </a:spcBef>
              <a:spcAft>
                <a:spcPts val="0"/>
              </a:spcAft>
              <a:buSzPts val="1400"/>
              <a:buFont typeface="Arial"/>
              <a:buNone/>
              <a:defRPr/>
            </a:lvl2pPr>
            <a:lvl3pPr indent="-228600" lvl="2" marL="1371600" algn="l">
              <a:lnSpc>
                <a:spcPct val="115000"/>
              </a:lnSpc>
              <a:spcBef>
                <a:spcPts val="600"/>
              </a:spcBef>
              <a:spcAft>
                <a:spcPts val="0"/>
              </a:spcAft>
              <a:buSzPts val="1400"/>
              <a:buFont typeface="Arial"/>
              <a:buNone/>
              <a:defRPr/>
            </a:lvl3pPr>
            <a:lvl4pPr indent="-228600" lvl="3" marL="1828800" algn="l">
              <a:lnSpc>
                <a:spcPct val="115000"/>
              </a:lnSpc>
              <a:spcBef>
                <a:spcPts val="600"/>
              </a:spcBef>
              <a:spcAft>
                <a:spcPts val="0"/>
              </a:spcAft>
              <a:buSzPts val="1400"/>
              <a:buFont typeface="Arial"/>
              <a:buNone/>
              <a:defRPr/>
            </a:lvl4pPr>
            <a:lvl5pPr indent="-228600" lvl="4" marL="2286000" algn="l">
              <a:lnSpc>
                <a:spcPct val="115000"/>
              </a:lnSpc>
              <a:spcBef>
                <a:spcPts val="600"/>
              </a:spcBef>
              <a:spcAft>
                <a:spcPts val="0"/>
              </a:spcAft>
              <a:buSzPts val="1400"/>
              <a:buFont typeface="Arial"/>
              <a:buNone/>
              <a:defRPr/>
            </a:lvl5pPr>
            <a:lvl6pPr indent="-228600" lvl="5" marL="2743200" algn="l">
              <a:lnSpc>
                <a:spcPct val="115000"/>
              </a:lnSpc>
              <a:spcBef>
                <a:spcPts val="600"/>
              </a:spcBef>
              <a:spcAft>
                <a:spcPts val="0"/>
              </a:spcAft>
              <a:buSzPts val="1400"/>
              <a:buFont typeface="Arial"/>
              <a:buNone/>
              <a:defRPr/>
            </a:lvl6pPr>
            <a:lvl7pPr indent="-228600" lvl="6" marL="3200400" algn="l">
              <a:lnSpc>
                <a:spcPct val="115000"/>
              </a:lnSpc>
              <a:spcBef>
                <a:spcPts val="600"/>
              </a:spcBef>
              <a:spcAft>
                <a:spcPts val="0"/>
              </a:spcAft>
              <a:buSzPts val="1400"/>
              <a:buFont typeface="Arial"/>
              <a:buNone/>
              <a:defRPr/>
            </a:lvl7pPr>
            <a:lvl8pPr indent="-228600" lvl="7" marL="3657600" algn="l">
              <a:lnSpc>
                <a:spcPct val="115000"/>
              </a:lnSpc>
              <a:spcBef>
                <a:spcPts val="600"/>
              </a:spcBef>
              <a:spcAft>
                <a:spcPts val="0"/>
              </a:spcAft>
              <a:buSzPts val="1400"/>
              <a:buFont typeface="Arial"/>
              <a:buNone/>
              <a:defRPr/>
            </a:lvl8pPr>
            <a:lvl9pPr indent="-228600" lvl="8" marL="4114800" algn="l">
              <a:lnSpc>
                <a:spcPct val="115000"/>
              </a:lnSpc>
              <a:spcBef>
                <a:spcPts val="600"/>
              </a:spcBef>
              <a:spcAft>
                <a:spcPts val="600"/>
              </a:spcAft>
              <a:buSzPts val="1400"/>
              <a:buFont typeface="Arial"/>
              <a:buNone/>
              <a:defRPr/>
            </a:lvl9pPr>
          </a:lstStyle>
          <a:p/>
        </p:txBody>
      </p:sp>
      <p:sp>
        <p:nvSpPr>
          <p:cNvPr id="12" name="Google Shape;12;p35"/>
          <p:cNvSpPr txBox="1"/>
          <p:nvPr>
            <p:ph idx="12" type="sldNum"/>
          </p:nvPr>
        </p:nvSpPr>
        <p:spPr>
          <a:xfrm>
            <a:off x="8339034" y="4569381"/>
            <a:ext cx="540000" cy="385800"/>
          </a:xfrm>
          <a:prstGeom prst="rect">
            <a:avLst/>
          </a:prstGeom>
          <a:noFill/>
          <a:ln>
            <a:noFill/>
          </a:ln>
        </p:spPr>
        <p:txBody>
          <a:bodyPr anchorCtr="0" anchor="ctr" bIns="33375" lIns="33375" spcFirstLastPara="1" rIns="33375" wrap="square" tIns="33375">
            <a:noAutofit/>
          </a:bodyPr>
          <a:lstStyle>
            <a:lvl1pPr indent="0" lvl="0"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extLst>
    <p:ext uri="{DCECCB84-F9BA-43D5-87BE-67443E8EF086}">
      <p15:sldGuideLst>
        <p15:guide id="1" orient="horz" pos="1587">
          <p15:clr>
            <a:srgbClr val="FBAE40"/>
          </p15:clr>
        </p15:guide>
        <p15:guide id="2" pos="28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36"/>
          <p:cNvSpPr txBox="1"/>
          <p:nvPr>
            <p:ph type="ctrTitle"/>
          </p:nvPr>
        </p:nvSpPr>
        <p:spPr>
          <a:xfrm>
            <a:off x="306800" y="729592"/>
            <a:ext cx="8386500" cy="2011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36"/>
          <p:cNvSpPr txBox="1"/>
          <p:nvPr>
            <p:ph idx="1" type="subTitle"/>
          </p:nvPr>
        </p:nvSpPr>
        <p:spPr>
          <a:xfrm>
            <a:off x="306791" y="2777095"/>
            <a:ext cx="8386500" cy="77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36"/>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7"/>
          <p:cNvSpPr txBox="1"/>
          <p:nvPr>
            <p:ph type="title"/>
          </p:nvPr>
        </p:nvSpPr>
        <p:spPr>
          <a:xfrm>
            <a:off x="306791" y="2107570"/>
            <a:ext cx="8386500" cy="82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7"/>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38"/>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8"/>
          <p:cNvSpPr txBox="1"/>
          <p:nvPr>
            <p:ph idx="1" type="body"/>
          </p:nvPr>
        </p:nvSpPr>
        <p:spPr>
          <a:xfrm>
            <a:off x="306791" y="1129284"/>
            <a:ext cx="8386500" cy="33477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38"/>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39"/>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39"/>
          <p:cNvSpPr txBox="1"/>
          <p:nvPr>
            <p:ph idx="1" type="body"/>
          </p:nvPr>
        </p:nvSpPr>
        <p:spPr>
          <a:xfrm>
            <a:off x="306791" y="1129284"/>
            <a:ext cx="3936900" cy="3347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39"/>
          <p:cNvSpPr txBox="1"/>
          <p:nvPr>
            <p:ph idx="2" type="body"/>
          </p:nvPr>
        </p:nvSpPr>
        <p:spPr>
          <a:xfrm>
            <a:off x="4756299" y="1129284"/>
            <a:ext cx="3936900" cy="3347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39"/>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0"/>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0"/>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1"/>
          <p:cNvSpPr txBox="1"/>
          <p:nvPr>
            <p:ph type="title"/>
          </p:nvPr>
        </p:nvSpPr>
        <p:spPr>
          <a:xfrm>
            <a:off x="306791" y="544420"/>
            <a:ext cx="2763900" cy="740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1"/>
          <p:cNvSpPr txBox="1"/>
          <p:nvPr>
            <p:ph idx="1" type="body"/>
          </p:nvPr>
        </p:nvSpPr>
        <p:spPr>
          <a:xfrm>
            <a:off x="306791" y="1361638"/>
            <a:ext cx="2763900" cy="3115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41"/>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2"/>
          <p:cNvSpPr txBox="1"/>
          <p:nvPr>
            <p:ph type="title"/>
          </p:nvPr>
        </p:nvSpPr>
        <p:spPr>
          <a:xfrm>
            <a:off x="482530" y="441092"/>
            <a:ext cx="6267600" cy="400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2"/>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3"/>
          <p:cNvSpPr/>
          <p:nvPr/>
        </p:nvSpPr>
        <p:spPr>
          <a:xfrm>
            <a:off x="4500000" y="-122"/>
            <a:ext cx="4500000" cy="5040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3"/>
          <p:cNvSpPr txBox="1"/>
          <p:nvPr>
            <p:ph type="title"/>
          </p:nvPr>
        </p:nvSpPr>
        <p:spPr>
          <a:xfrm>
            <a:off x="261319" y="1208360"/>
            <a:ext cx="3981600" cy="14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3"/>
          <p:cNvSpPr txBox="1"/>
          <p:nvPr>
            <p:ph idx="1" type="subTitle"/>
          </p:nvPr>
        </p:nvSpPr>
        <p:spPr>
          <a:xfrm>
            <a:off x="261319" y="2746670"/>
            <a:ext cx="3981600" cy="1210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3"/>
          <p:cNvSpPr txBox="1"/>
          <p:nvPr>
            <p:ph idx="2" type="body"/>
          </p:nvPr>
        </p:nvSpPr>
        <p:spPr>
          <a:xfrm>
            <a:off x="4861713" y="709505"/>
            <a:ext cx="3776700" cy="3620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3"/>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4"/>
          <p:cNvSpPr txBox="1"/>
          <p:nvPr>
            <p:ph idx="1" type="body"/>
          </p:nvPr>
        </p:nvSpPr>
        <p:spPr>
          <a:xfrm>
            <a:off x="306791" y="4145445"/>
            <a:ext cx="5904300" cy="593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7" name="Google Shape;47;p44"/>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5"/>
          <p:cNvSpPr txBox="1"/>
          <p:nvPr>
            <p:ph hasCustomPrompt="1" type="title"/>
          </p:nvPr>
        </p:nvSpPr>
        <p:spPr>
          <a:xfrm>
            <a:off x="306791" y="1083867"/>
            <a:ext cx="8386500" cy="1924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5"/>
          <p:cNvSpPr txBox="1"/>
          <p:nvPr>
            <p:ph idx="1" type="body"/>
          </p:nvPr>
        </p:nvSpPr>
        <p:spPr>
          <a:xfrm>
            <a:off x="306791" y="3088794"/>
            <a:ext cx="8386500" cy="12747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45"/>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46"/>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306791" y="1129284"/>
            <a:ext cx="8386500" cy="33477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4"/>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hyperlink" Target="https://docs.google.com/presentation/d/15QmGWP_A9z9TEuRAsS1kCirCWWYg_ljx1VcL9NkURus/edit#slide=id.g307fc95508c_0_4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ya.ru/"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28.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7.png"/><Relationship Id="rId8"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30.png"/></Relationships>
</file>

<file path=ppt/slides/_rels/slide36.xml.rels><?xml version="1.0" encoding="UTF-8" standalone="yes"?><Relationships xmlns="http://schemas.openxmlformats.org/package/2006/relationships"><Relationship Id="rId10"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29.png"/><Relationship Id="rId5" Type="http://schemas.openxmlformats.org/officeDocument/2006/relationships/image" Target="../media/image5.png"/><Relationship Id="rId6" Type="http://schemas.openxmlformats.org/officeDocument/2006/relationships/image" Target="../media/image35.png"/><Relationship Id="rId7" Type="http://schemas.openxmlformats.org/officeDocument/2006/relationships/image" Target="../media/image32.png"/><Relationship Id="rId8"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27.png"/><Relationship Id="rId6"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idx="1" type="body"/>
          </p:nvPr>
        </p:nvSpPr>
        <p:spPr>
          <a:xfrm>
            <a:off x="491150" y="939775"/>
            <a:ext cx="7223400" cy="3503700"/>
          </a:xfrm>
          <a:prstGeom prst="rect">
            <a:avLst/>
          </a:prstGeom>
          <a:noFill/>
          <a:ln>
            <a:noFill/>
          </a:ln>
        </p:spPr>
        <p:txBody>
          <a:bodyPr anchorCtr="0" anchor="t" bIns="33375" lIns="33375" spcFirstLastPara="1" rIns="33375" wrap="square" tIns="33375">
            <a:noAutofit/>
          </a:bodyPr>
          <a:lstStyle/>
          <a:p>
            <a:pPr indent="-165100" lvl="0" marL="165100" rtl="0" algn="l">
              <a:lnSpc>
                <a:spcPct val="115000"/>
              </a:lnSpc>
              <a:spcBef>
                <a:spcPts val="4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Скопируйте эту презентацию себе на облачный диск.</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Для заполнения используйте текст своей диссертации, но не копируйте большие куски текста, которые сложны для восприятия.</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На слайдах </a:t>
            </a:r>
            <a:r>
              <a:rPr i="1" lang="ru" sz="1600">
                <a:solidFill>
                  <a:srgbClr val="CC0000"/>
                </a:solidFill>
                <a:latin typeface="Montserrat"/>
                <a:ea typeface="Montserrat"/>
                <a:cs typeface="Montserrat"/>
                <a:sym typeface="Montserrat"/>
              </a:rPr>
              <a:t>красным курсивом</a:t>
            </a:r>
            <a:r>
              <a:rPr lang="ru" sz="1500">
                <a:solidFill>
                  <a:schemeClr val="dk1"/>
                </a:solidFill>
                <a:latin typeface="Montserrat"/>
                <a:ea typeface="Montserrat"/>
                <a:cs typeface="Montserrat"/>
                <a:sym typeface="Montserrat"/>
              </a:rPr>
              <a:t> даны подсказки по заполнению. Удалите их после заполнения.</a:t>
            </a:r>
            <a:endParaRPr sz="16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Вы можете менять дизайн слайдов, не упуская смысловые аспекты: добавлять графики, изображения, текст. Помните, что слайд должен считываться слушателями достаточно быстро.</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Вы можете менять порядок слайдов, если это не нарушает логику изложения.</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100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Под звездочкой * даны опциональные слайды.</a:t>
            </a:r>
            <a:endParaRPr sz="1500">
              <a:solidFill>
                <a:schemeClr val="dk1"/>
              </a:solidFill>
              <a:latin typeface="Montserrat"/>
              <a:ea typeface="Montserrat"/>
              <a:cs typeface="Montserrat"/>
              <a:sym typeface="Montserrat"/>
            </a:endParaRPr>
          </a:p>
        </p:txBody>
      </p:sp>
      <p:sp>
        <p:nvSpPr>
          <p:cNvPr id="59" name="Google Shape;59;p1"/>
          <p:cNvSpPr txBox="1"/>
          <p:nvPr>
            <p:ph type="title"/>
          </p:nvPr>
        </p:nvSpPr>
        <p:spPr>
          <a:xfrm>
            <a:off x="397200" y="282024"/>
            <a:ext cx="8400000" cy="385800"/>
          </a:xfrm>
          <a:prstGeom prst="rect">
            <a:avLst/>
          </a:prstGeom>
          <a:noFill/>
          <a:ln>
            <a:noFill/>
          </a:ln>
        </p:spPr>
        <p:txBody>
          <a:bodyPr anchorCtr="0" anchor="t" bIns="33375" lIns="33375" spcFirstLastPara="1" rIns="33375" wrap="square" tIns="33375">
            <a:noAutofit/>
          </a:bodyPr>
          <a:lstStyle/>
          <a:p>
            <a:pPr indent="0" lvl="0" marL="0" rtl="0" algn="l">
              <a:lnSpc>
                <a:spcPct val="100000"/>
              </a:lnSpc>
              <a:spcBef>
                <a:spcPts val="0"/>
              </a:spcBef>
              <a:spcAft>
                <a:spcPts val="0"/>
              </a:spcAft>
              <a:buSzPts val="3100"/>
              <a:buNone/>
            </a:pPr>
            <a:r>
              <a:rPr lang="ru" sz="2800">
                <a:solidFill>
                  <a:srgbClr val="123194"/>
                </a:solidFill>
                <a:latin typeface="Montserrat"/>
                <a:ea typeface="Montserrat"/>
                <a:cs typeface="Montserrat"/>
                <a:sym typeface="Montserrat"/>
              </a:rPr>
              <a:t>Инструкция по работе с шаблоном</a:t>
            </a:r>
            <a:endParaRPr/>
          </a:p>
        </p:txBody>
      </p:sp>
      <p:sp>
        <p:nvSpPr>
          <p:cNvPr id="60" name="Google Shape;60;p1"/>
          <p:cNvSpPr txBox="1"/>
          <p:nvPr>
            <p:ph idx="12" type="sldNum"/>
          </p:nvPr>
        </p:nvSpPr>
        <p:spPr>
          <a:xfrm>
            <a:off x="8339034" y="4569381"/>
            <a:ext cx="540000" cy="385800"/>
          </a:xfrm>
          <a:prstGeom prst="rect">
            <a:avLst/>
          </a:prstGeom>
          <a:noFill/>
          <a:ln>
            <a:noFill/>
          </a:ln>
        </p:spPr>
        <p:txBody>
          <a:bodyPr anchorCtr="0" anchor="ctr" bIns="33375" lIns="33375" spcFirstLastPara="1" rIns="33375" wrap="square" tIns="33375">
            <a:noAutofit/>
          </a:bodyPr>
          <a:lstStyle/>
          <a:p>
            <a:pPr indent="0" lvl="0" marL="0" rtl="0" algn="r">
              <a:lnSpc>
                <a:spcPct val="100000"/>
              </a:lnSpc>
              <a:spcBef>
                <a:spcPts val="0"/>
              </a:spcBef>
              <a:spcAft>
                <a:spcPts val="0"/>
              </a:spcAft>
              <a:buClr>
                <a:srgbClr val="92C5EB"/>
              </a:buClr>
              <a:buSzPts val="1000"/>
              <a:buFont typeface="Quattrocento Sans"/>
              <a:buNone/>
            </a:pPr>
            <a:fld id="{00000000-1234-1234-1234-123412341234}" type="slidenum">
              <a:rPr lang="ru"/>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txBox="1"/>
          <p:nvPr/>
        </p:nvSpPr>
        <p:spPr>
          <a:xfrm>
            <a:off x="352498" y="4041902"/>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ru" sz="1600" u="none" cap="none" strike="noStrike">
                <a:solidFill>
                  <a:schemeClr val="lt1"/>
                </a:solidFill>
                <a:latin typeface="Montserrat"/>
                <a:ea typeface="Montserrat"/>
                <a:cs typeface="Montserrat"/>
                <a:sym typeface="Montserrat"/>
              </a:rPr>
              <a:t>Выполнил: ФИО студента</a:t>
            </a:r>
            <a:endParaRPr b="0" i="0" sz="16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00"/>
              <a:buFont typeface="Arial"/>
              <a:buNone/>
            </a:pPr>
            <a:r>
              <a:rPr b="0" i="0" lang="ru" sz="1600" u="none" cap="none" strike="noStrike">
                <a:solidFill>
                  <a:schemeClr val="lt1"/>
                </a:solidFill>
                <a:latin typeface="Montserrat"/>
                <a:ea typeface="Montserrat"/>
                <a:cs typeface="Montserrat"/>
                <a:sym typeface="Montserrat"/>
              </a:rPr>
              <a:t>Научный руководитель: ФИО, ученая степень и должность</a:t>
            </a:r>
            <a:endParaRPr b="0" i="0" sz="16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lt1"/>
              </a:solidFill>
              <a:latin typeface="Montserrat"/>
              <a:ea typeface="Montserrat"/>
              <a:cs typeface="Montserrat"/>
              <a:sym typeface="Montserrat"/>
            </a:endParaRPr>
          </a:p>
        </p:txBody>
      </p:sp>
      <p:pic>
        <p:nvPicPr>
          <p:cNvPr id="67" name="Google Shape;67;p2"/>
          <p:cNvPicPr preferRelativeResize="0"/>
          <p:nvPr/>
        </p:nvPicPr>
        <p:blipFill rotWithShape="1">
          <a:blip r:embed="rId3">
            <a:alphaModFix/>
          </a:blip>
          <a:srcRect b="0" l="0" r="0" t="0"/>
          <a:stretch/>
        </p:blipFill>
        <p:spPr>
          <a:xfrm>
            <a:off x="7729623" y="156412"/>
            <a:ext cx="847909" cy="415398"/>
          </a:xfrm>
          <a:prstGeom prst="rect">
            <a:avLst/>
          </a:prstGeom>
          <a:noFill/>
          <a:ln>
            <a:noFill/>
          </a:ln>
        </p:spPr>
      </p:pic>
      <p:sp>
        <p:nvSpPr>
          <p:cNvPr id="68" name="Google Shape;68;p2"/>
          <p:cNvSpPr txBox="1"/>
          <p:nvPr/>
        </p:nvSpPr>
        <p:spPr>
          <a:xfrm>
            <a:off x="315779" y="456933"/>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Тема исследования</a:t>
            </a:r>
            <a:endParaRPr b="1" i="0" sz="5700" u="none" cap="none" strike="noStrike">
              <a:solidFill>
                <a:schemeClr val="lt1"/>
              </a:solidFill>
              <a:latin typeface="Montserrat"/>
              <a:ea typeface="Montserrat"/>
              <a:cs typeface="Montserrat"/>
              <a:sym typeface="Montserrat"/>
            </a:endParaRPr>
          </a:p>
        </p:txBody>
      </p:sp>
      <p:sp>
        <p:nvSpPr>
          <p:cNvPr id="69" name="Google Shape;69;p2"/>
          <p:cNvSpPr txBox="1"/>
          <p:nvPr/>
        </p:nvSpPr>
        <p:spPr>
          <a:xfrm>
            <a:off x="315779" y="2875318"/>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ru" sz="2400" u="none" cap="none" strike="noStrike">
                <a:solidFill>
                  <a:schemeClr val="lt1"/>
                </a:solidFill>
                <a:latin typeface="Montserrat"/>
                <a:ea typeface="Montserrat"/>
                <a:cs typeface="Montserrat"/>
                <a:sym typeface="Montserrat"/>
              </a:rPr>
              <a:t>Название магистерской программы</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5"/>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75" name="Google Shape;75;p5"/>
          <p:cNvSpPr txBox="1"/>
          <p:nvPr/>
        </p:nvSpPr>
        <p:spPr>
          <a:xfrm>
            <a:off x="321325" y="257500"/>
            <a:ext cx="8295000" cy="72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Теоретический анализ</a:t>
            </a:r>
            <a:endParaRPr b="1" i="0" sz="2800" u="none" cap="none" strike="noStrike">
              <a:solidFill>
                <a:srgbClr val="123194"/>
              </a:solidFill>
              <a:latin typeface="Montserrat"/>
              <a:ea typeface="Montserrat"/>
              <a:cs typeface="Montserrat"/>
              <a:sym typeface="Montserrat"/>
            </a:endParaRPr>
          </a:p>
        </p:txBody>
      </p:sp>
      <p:sp>
        <p:nvSpPr>
          <p:cNvPr id="76" name="Google Shape;76;p5"/>
          <p:cNvSpPr txBox="1"/>
          <p:nvPr/>
        </p:nvSpPr>
        <p:spPr>
          <a:xfrm>
            <a:off x="372358" y="1024944"/>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Охарактеризуйте выводы из научных и аналитических источников, изученных вами, результаты исследования первичных источников (экспертные интервью с описанием выборки и другие). Приведите обзор тезисов и аргументов полемизирующих авторов. Теоретический анализ должен явным образом демонстрировать, как вы вышли на свой исследовательский вопрос и гипотезы; как обнаружили теоретический и практический компоненты проблем.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Вы можете использовать </a:t>
            </a:r>
            <a:r>
              <a:rPr i="1" lang="ru">
                <a:solidFill>
                  <a:srgbClr val="CC0000"/>
                </a:solidFill>
                <a:latin typeface="Montserrat"/>
                <a:ea typeface="Montserrat"/>
                <a:cs typeface="Montserrat"/>
                <a:sym typeface="Montserrat"/>
              </a:rPr>
              <a:t>любые удобные </a:t>
            </a:r>
            <a:r>
              <a:rPr b="0" i="1" lang="ru" u="none" cap="none" strike="noStrike">
                <a:solidFill>
                  <a:srgbClr val="CC0000"/>
                </a:solidFill>
                <a:latin typeface="Montserrat"/>
                <a:ea typeface="Montserrat"/>
                <a:cs typeface="Montserrat"/>
                <a:sym typeface="Montserrat"/>
              </a:rPr>
              <a:t>форматы </a:t>
            </a:r>
            <a:r>
              <a:rPr i="1" lang="ru">
                <a:solidFill>
                  <a:srgbClr val="CC0000"/>
                </a:solidFill>
                <a:latin typeface="Montserrat"/>
                <a:ea typeface="Montserrat"/>
                <a:cs typeface="Montserrat"/>
                <a:sym typeface="Montserrat"/>
              </a:rPr>
              <a:t>и </a:t>
            </a:r>
            <a:r>
              <a:rPr b="0" i="1" lang="ru" u="none" cap="none" strike="noStrike">
                <a:solidFill>
                  <a:srgbClr val="CC0000"/>
                </a:solidFill>
                <a:latin typeface="Montserrat"/>
                <a:ea typeface="Montserrat"/>
                <a:cs typeface="Montserrat"/>
                <a:sym typeface="Montserrat"/>
              </a:rPr>
              <a:t>дизайн слайда для иллюстрации своего анализа.</a:t>
            </a:r>
            <a:endParaRPr b="0" i="1" u="none" cap="none" strike="noStrike">
              <a:solidFill>
                <a:srgbClr val="CC0000"/>
              </a:solidFill>
              <a:latin typeface="Montserrat"/>
              <a:ea typeface="Montserrat"/>
              <a:cs typeface="Montserrat"/>
              <a:sym typeface="Montserrat"/>
            </a:endParaRPr>
          </a:p>
        </p:txBody>
      </p:sp>
      <p:sp>
        <p:nvSpPr>
          <p:cNvPr id="77" name="Google Shape;77;p5"/>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полный теоретический анализ в структуре ВКР</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g3ad0e75760e_0_6"/>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83" name="Google Shape;83;g3ad0e75760e_0_6"/>
          <p:cNvSpPr txBox="1"/>
          <p:nvPr/>
        </p:nvSpPr>
        <p:spPr>
          <a:xfrm>
            <a:off x="368550" y="246500"/>
            <a:ext cx="8247900" cy="74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Проблема и актуальность </a:t>
            </a:r>
            <a:endParaRPr b="1" i="0" sz="2800" u="none" cap="none" strike="noStrike">
              <a:solidFill>
                <a:srgbClr val="123194"/>
              </a:solidFill>
              <a:latin typeface="Montserrat"/>
              <a:ea typeface="Montserrat"/>
              <a:cs typeface="Montserrat"/>
              <a:sym typeface="Montserrat"/>
            </a:endParaRPr>
          </a:p>
        </p:txBody>
      </p:sp>
      <p:sp>
        <p:nvSpPr>
          <p:cNvPr id="84" name="Google Shape;84;g3ad0e75760e_0_6"/>
          <p:cNvSpPr txBox="1"/>
          <p:nvPr/>
        </p:nvSpPr>
        <p:spPr>
          <a:xfrm>
            <a:off x="321325" y="2035700"/>
            <a:ext cx="8142600" cy="1993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Опишите </a:t>
            </a:r>
            <a:r>
              <a:rPr b="1" i="1" lang="ru" u="none" cap="none" strike="noStrike">
                <a:solidFill>
                  <a:srgbClr val="CC0000"/>
                </a:solidFill>
                <a:latin typeface="Montserrat"/>
                <a:ea typeface="Montserrat"/>
                <a:cs typeface="Montserrat"/>
                <a:sym typeface="Montserrat"/>
              </a:rPr>
              <a:t>практический компонент проблемы</a:t>
            </a:r>
            <a:r>
              <a:rPr b="0" i="1" lang="ru" u="none" cap="none" strike="noStrike">
                <a:solidFill>
                  <a:srgbClr val="CC0000"/>
                </a:solidFill>
                <a:latin typeface="Montserrat"/>
                <a:ea typeface="Montserrat"/>
                <a:cs typeface="Montserrat"/>
                <a:sym typeface="Montserrat"/>
              </a:rPr>
              <a:t> — какие разрывы между идеальным и реальным наблюдаются (кто несет потери, терпит неудобства, страдает, гибнет, что деградирует и так далее).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1" i="1" lang="ru" u="none" cap="none" strike="noStrike">
                <a:solidFill>
                  <a:srgbClr val="CC0000"/>
                </a:solidFill>
                <a:latin typeface="Montserrat"/>
                <a:ea typeface="Montserrat"/>
                <a:cs typeface="Montserrat"/>
                <a:sym typeface="Montserrat"/>
              </a:rPr>
              <a:t>Актуальность </a:t>
            </a:r>
            <a:r>
              <a:rPr i="1" lang="ru">
                <a:solidFill>
                  <a:srgbClr val="CC0000"/>
                </a:solidFill>
                <a:latin typeface="Montserrat"/>
                <a:ea typeface="Montserrat"/>
                <a:cs typeface="Montserrat"/>
                <a:sym typeface="Montserrat"/>
              </a:rPr>
              <a:t>дает оценку </a:t>
            </a:r>
            <a:r>
              <a:rPr b="0" i="1" lang="ru" u="none" cap="none" strike="noStrike">
                <a:solidFill>
                  <a:srgbClr val="CC0000"/>
                </a:solidFill>
                <a:latin typeface="Montserrat"/>
                <a:ea typeface="Montserrat"/>
                <a:cs typeface="Montserrat"/>
                <a:sym typeface="Montserrat"/>
              </a:rPr>
              <a:t>масштаба этой проблемы в выбранных метриках (скольких субъектов она касается, во сколько оцениваются потери и так далее). Приведите ссылки на источники этих данных.</a:t>
            </a:r>
            <a:endParaRPr b="0" i="1" u="none" cap="none" strike="noStrike">
              <a:solidFill>
                <a:srgbClr val="CC0000"/>
              </a:solidFill>
              <a:latin typeface="Montserrat"/>
              <a:ea typeface="Montserrat"/>
              <a:cs typeface="Montserrat"/>
              <a:sym typeface="Montserrat"/>
            </a:endParaRPr>
          </a:p>
        </p:txBody>
      </p:sp>
      <p:sp>
        <p:nvSpPr>
          <p:cNvPr id="85" name="Google Shape;85;g3ad0e75760e_0_6"/>
          <p:cNvSpPr txBox="1"/>
          <p:nvPr/>
        </p:nvSpPr>
        <p:spPr>
          <a:xfrm>
            <a:off x="372725" y="1127220"/>
            <a:ext cx="3841800" cy="97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1" lang="ru" sz="1800">
                <a:solidFill>
                  <a:schemeClr val="dk1"/>
                </a:solidFill>
                <a:latin typeface="Montserrat"/>
                <a:ea typeface="Montserrat"/>
                <a:cs typeface="Montserrat"/>
                <a:sym typeface="Montserrat"/>
              </a:rPr>
              <a:t>Проблема исследования</a:t>
            </a:r>
            <a:r>
              <a:rPr lang="ru" sz="1800">
                <a:solidFill>
                  <a:schemeClr val="dk1"/>
                </a:solidFill>
                <a:latin typeface="Montserrat"/>
                <a:ea typeface="Montserrat"/>
                <a:cs typeface="Montserrat"/>
                <a:sym typeface="Montserrat"/>
              </a:rPr>
              <a:t>:</a:t>
            </a:r>
            <a:endParaRPr b="0" i="0" sz="1800" u="none" cap="none" strike="noStrike">
              <a:solidFill>
                <a:schemeClr val="dk1"/>
              </a:solidFill>
              <a:latin typeface="Montserrat"/>
              <a:ea typeface="Montserrat"/>
              <a:cs typeface="Montserrat"/>
              <a:sym typeface="Montserrat"/>
            </a:endParaRPr>
          </a:p>
        </p:txBody>
      </p:sp>
      <p:sp>
        <p:nvSpPr>
          <p:cNvPr id="86" name="Google Shape;86;g3ad0e75760e_0_6"/>
          <p:cNvSpPr txBox="1"/>
          <p:nvPr/>
        </p:nvSpPr>
        <p:spPr>
          <a:xfrm>
            <a:off x="4616900" y="1096775"/>
            <a:ext cx="3841800" cy="100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1" lang="ru" sz="1800">
                <a:solidFill>
                  <a:schemeClr val="dk1"/>
                </a:solidFill>
                <a:latin typeface="Montserrat"/>
                <a:ea typeface="Montserrat"/>
                <a:cs typeface="Montserrat"/>
                <a:sym typeface="Montserrat"/>
              </a:rPr>
              <a:t>Актуальность:</a:t>
            </a:r>
            <a:endParaRPr b="0" i="0" sz="1800" u="none" cap="none" strike="noStrike">
              <a:solidFill>
                <a:schemeClr val="dk1"/>
              </a:solidFill>
              <a:latin typeface="Montserrat"/>
              <a:ea typeface="Montserrat"/>
              <a:cs typeface="Montserrat"/>
              <a:sym typeface="Montserrat"/>
            </a:endParaRPr>
          </a:p>
        </p:txBody>
      </p:sp>
      <p:sp>
        <p:nvSpPr>
          <p:cNvPr id="87" name="Google Shape;87;g3ad0e75760e_0_6"/>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параграф в структуре ВКР</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g3ad0e75760e_0_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93" name="Google Shape;93;g3ad0e75760e_0_0"/>
          <p:cNvSpPr txBox="1"/>
          <p:nvPr/>
        </p:nvSpPr>
        <p:spPr>
          <a:xfrm>
            <a:off x="368550" y="246500"/>
            <a:ext cx="8247900" cy="74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Проблема и новизна</a:t>
            </a:r>
            <a:endParaRPr b="1" i="0" sz="2800" u="none" cap="none" strike="noStrike">
              <a:solidFill>
                <a:srgbClr val="123194"/>
              </a:solidFill>
              <a:latin typeface="Montserrat"/>
              <a:ea typeface="Montserrat"/>
              <a:cs typeface="Montserrat"/>
              <a:sym typeface="Montserrat"/>
            </a:endParaRPr>
          </a:p>
        </p:txBody>
      </p:sp>
      <p:sp>
        <p:nvSpPr>
          <p:cNvPr id="94" name="Google Shape;94;g3ad0e75760e_0_0"/>
          <p:cNvSpPr txBox="1"/>
          <p:nvPr/>
        </p:nvSpPr>
        <p:spPr>
          <a:xfrm>
            <a:off x="321325" y="2327675"/>
            <a:ext cx="8142600" cy="219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Опишите </a:t>
            </a:r>
            <a:r>
              <a:rPr b="1" i="1" lang="ru" u="none" cap="none" strike="noStrike">
                <a:solidFill>
                  <a:srgbClr val="CC0000"/>
                </a:solidFill>
                <a:latin typeface="Montserrat"/>
                <a:ea typeface="Montserrat"/>
                <a:cs typeface="Montserrat"/>
                <a:sym typeface="Montserrat"/>
              </a:rPr>
              <a:t>теоретический компонент проблемы</a:t>
            </a:r>
            <a:r>
              <a:rPr b="0" i="1" lang="ru" u="none" cap="none" strike="noStrike">
                <a:solidFill>
                  <a:srgbClr val="CC0000"/>
                </a:solidFill>
                <a:latin typeface="Montserrat"/>
                <a:ea typeface="Montserrat"/>
                <a:cs typeface="Montserrat"/>
                <a:sym typeface="Montserrat"/>
              </a:rPr>
              <a:t> — что недоисследовано (пробел в знаниях</a:t>
            </a:r>
            <a:r>
              <a:rPr i="1" lang="ru">
                <a:solidFill>
                  <a:srgbClr val="CC0000"/>
                </a:solidFill>
                <a:latin typeface="Montserrat"/>
                <a:ea typeface="Montserrat"/>
                <a:cs typeface="Montserrat"/>
                <a:sym typeface="Montserrat"/>
              </a:rPr>
              <a:t>, </a:t>
            </a:r>
            <a:r>
              <a:rPr b="0" i="1" lang="ru" u="none" cap="none" strike="noStrike">
                <a:solidFill>
                  <a:srgbClr val="CC0000"/>
                </a:solidFill>
                <a:latin typeface="Montserrat"/>
                <a:ea typeface="Montserrat"/>
                <a:cs typeface="Montserrat"/>
                <a:sym typeface="Montserrat"/>
              </a:rPr>
              <a:t>knowledge gap), на какие вопросы у исследовательского сообщества нет ответа.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1" i="1" lang="ru" u="none" cap="none" strike="noStrike">
                <a:solidFill>
                  <a:srgbClr val="CC0000"/>
                </a:solidFill>
                <a:latin typeface="Montserrat"/>
                <a:ea typeface="Montserrat"/>
                <a:cs typeface="Montserrat"/>
                <a:sym typeface="Montserrat"/>
              </a:rPr>
              <a:t>Новизна</a:t>
            </a:r>
            <a:r>
              <a:rPr b="1" i="1" lang="ru">
                <a:solidFill>
                  <a:srgbClr val="CC0000"/>
                </a:solidFill>
                <a:latin typeface="Montserrat"/>
                <a:ea typeface="Montserrat"/>
                <a:cs typeface="Montserrat"/>
                <a:sym typeface="Montserrat"/>
              </a:rPr>
              <a:t> </a:t>
            </a:r>
            <a:r>
              <a:rPr i="1" lang="ru">
                <a:solidFill>
                  <a:srgbClr val="CC0000"/>
                </a:solidFill>
                <a:latin typeface="Montserrat"/>
                <a:ea typeface="Montserrat"/>
                <a:cs typeface="Montserrat"/>
                <a:sym typeface="Montserrat"/>
              </a:rPr>
              <a:t>должна отвечать на вопрос: «</a:t>
            </a:r>
            <a:r>
              <a:rPr b="0" i="1" lang="ru" u="none" cap="none" strike="noStrike">
                <a:solidFill>
                  <a:srgbClr val="CC0000"/>
                </a:solidFill>
                <a:latin typeface="Montserrat"/>
                <a:ea typeface="Montserrat"/>
                <a:cs typeface="Montserrat"/>
                <a:sym typeface="Montserrat"/>
              </a:rPr>
              <a:t>Что нового вы привнесете результатами своего исследования в знания исследовательского сообщества?</a:t>
            </a:r>
            <a:r>
              <a:rPr i="1" lang="ru">
                <a:solidFill>
                  <a:srgbClr val="CC0000"/>
                </a:solidFill>
                <a:latin typeface="Montserrat"/>
                <a:ea typeface="Montserrat"/>
                <a:cs typeface="Montserrat"/>
                <a:sym typeface="Montserrat"/>
              </a:rPr>
              <a:t>»</a:t>
            </a:r>
            <a:endParaRPr b="0" i="1" u="none" cap="none" strike="noStrike">
              <a:solidFill>
                <a:srgbClr val="CC0000"/>
              </a:solidFill>
              <a:latin typeface="Montserrat"/>
              <a:ea typeface="Montserrat"/>
              <a:cs typeface="Montserrat"/>
              <a:sym typeface="Montserrat"/>
            </a:endParaRPr>
          </a:p>
        </p:txBody>
      </p:sp>
      <p:sp>
        <p:nvSpPr>
          <p:cNvPr id="95" name="Google Shape;95;g3ad0e75760e_0_0"/>
          <p:cNvSpPr txBox="1"/>
          <p:nvPr/>
        </p:nvSpPr>
        <p:spPr>
          <a:xfrm>
            <a:off x="372725" y="1127220"/>
            <a:ext cx="3841800" cy="97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1" lang="ru" sz="1800">
                <a:solidFill>
                  <a:schemeClr val="dk1"/>
                </a:solidFill>
                <a:latin typeface="Montserrat"/>
                <a:ea typeface="Montserrat"/>
                <a:cs typeface="Montserrat"/>
                <a:sym typeface="Montserrat"/>
              </a:rPr>
              <a:t>Проблема исследования</a:t>
            </a:r>
            <a:r>
              <a:rPr lang="ru" sz="1800">
                <a:solidFill>
                  <a:schemeClr val="dk1"/>
                </a:solidFill>
                <a:latin typeface="Montserrat"/>
                <a:ea typeface="Montserrat"/>
                <a:cs typeface="Montserrat"/>
                <a:sym typeface="Montserrat"/>
              </a:rPr>
              <a:t>:</a:t>
            </a:r>
            <a:endParaRPr b="0" i="0" sz="1800" u="none" cap="none" strike="noStrike">
              <a:solidFill>
                <a:schemeClr val="dk1"/>
              </a:solidFill>
              <a:latin typeface="Montserrat"/>
              <a:ea typeface="Montserrat"/>
              <a:cs typeface="Montserrat"/>
              <a:sym typeface="Montserrat"/>
            </a:endParaRPr>
          </a:p>
        </p:txBody>
      </p:sp>
      <p:sp>
        <p:nvSpPr>
          <p:cNvPr id="96" name="Google Shape;96;g3ad0e75760e_0_0"/>
          <p:cNvSpPr txBox="1"/>
          <p:nvPr/>
        </p:nvSpPr>
        <p:spPr>
          <a:xfrm>
            <a:off x="4616900" y="1096775"/>
            <a:ext cx="3841800" cy="100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1" lang="ru" sz="1800">
                <a:solidFill>
                  <a:schemeClr val="dk1"/>
                </a:solidFill>
                <a:latin typeface="Montserrat"/>
                <a:ea typeface="Montserrat"/>
                <a:cs typeface="Montserrat"/>
                <a:sym typeface="Montserrat"/>
              </a:rPr>
              <a:t>Новизна</a:t>
            </a:r>
            <a:r>
              <a:rPr b="1" lang="ru" sz="1800">
                <a:solidFill>
                  <a:schemeClr val="dk1"/>
                </a:solidFill>
                <a:latin typeface="Montserrat"/>
                <a:ea typeface="Montserrat"/>
                <a:cs typeface="Montserrat"/>
                <a:sym typeface="Montserrat"/>
              </a:rPr>
              <a:t>:</a:t>
            </a:r>
            <a:endParaRPr b="0" i="0" sz="1800" u="none" cap="none" strike="noStrike">
              <a:solidFill>
                <a:schemeClr val="dk1"/>
              </a:solidFill>
              <a:latin typeface="Montserrat"/>
              <a:ea typeface="Montserrat"/>
              <a:cs typeface="Montserrat"/>
              <a:sym typeface="Montserrat"/>
            </a:endParaRPr>
          </a:p>
        </p:txBody>
      </p:sp>
      <p:sp>
        <p:nvSpPr>
          <p:cNvPr id="97" name="Google Shape;97;g3ad0e75760e_0_0"/>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параграф в структуре ВКР</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
          <p:cNvSpPr txBox="1"/>
          <p:nvPr/>
        </p:nvSpPr>
        <p:spPr>
          <a:xfrm>
            <a:off x="331280" y="28632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Цель исследования</a:t>
            </a:r>
            <a:endParaRPr b="1" i="0" sz="2800" u="none" cap="none" strike="noStrike">
              <a:solidFill>
                <a:schemeClr val="lt1"/>
              </a:solidFill>
              <a:latin typeface="Montserrat"/>
              <a:ea typeface="Montserrat"/>
              <a:cs typeface="Montserrat"/>
              <a:sym typeface="Montserrat"/>
            </a:endParaRPr>
          </a:p>
        </p:txBody>
      </p:sp>
      <p:pic>
        <p:nvPicPr>
          <p:cNvPr id="104" name="Google Shape;104;p4"/>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
        <p:nvSpPr>
          <p:cNvPr id="105" name="Google Shape;105;p4"/>
          <p:cNvSpPr txBox="1"/>
          <p:nvPr/>
        </p:nvSpPr>
        <p:spPr>
          <a:xfrm>
            <a:off x="372725" y="1159200"/>
            <a:ext cx="3841800" cy="120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0" i="0" lang="ru" sz="1800" u="none" cap="none" strike="noStrike">
                <a:solidFill>
                  <a:schemeClr val="lt1"/>
                </a:solidFill>
                <a:latin typeface="Montserrat"/>
                <a:ea typeface="Montserrat"/>
                <a:cs typeface="Montserrat"/>
                <a:sym typeface="Montserrat"/>
              </a:rPr>
              <a:t>Сформулированная </a:t>
            </a:r>
            <a:br>
              <a:rPr lang="ru" sz="1800">
                <a:solidFill>
                  <a:schemeClr val="lt1"/>
                </a:solidFill>
                <a:latin typeface="Montserrat"/>
                <a:ea typeface="Montserrat"/>
                <a:cs typeface="Montserrat"/>
                <a:sym typeface="Montserrat"/>
              </a:rPr>
            </a:br>
            <a:r>
              <a:rPr b="0" i="0" lang="ru" sz="1800" u="none" cap="none" strike="noStrike">
                <a:solidFill>
                  <a:schemeClr val="lt1"/>
                </a:solidFill>
                <a:latin typeface="Montserrat"/>
                <a:ea typeface="Montserrat"/>
                <a:cs typeface="Montserrat"/>
                <a:sym typeface="Montserrat"/>
              </a:rPr>
              <a:t>в 1</a:t>
            </a:r>
            <a:r>
              <a:rPr lang="ru" sz="1800">
                <a:solidFill>
                  <a:schemeClr val="lt1"/>
                </a:solidFill>
                <a:latin typeface="Montserrat"/>
                <a:ea typeface="Montserrat"/>
                <a:cs typeface="Montserrat"/>
                <a:sym typeface="Montserrat"/>
              </a:rPr>
              <a:t>–</a:t>
            </a:r>
            <a:r>
              <a:rPr b="0" i="0" lang="ru" sz="1800" u="none" cap="none" strike="noStrike">
                <a:solidFill>
                  <a:schemeClr val="lt1"/>
                </a:solidFill>
                <a:latin typeface="Montserrat"/>
                <a:ea typeface="Montserrat"/>
                <a:cs typeface="Montserrat"/>
                <a:sym typeface="Montserrat"/>
              </a:rPr>
              <a:t>2 предложениях цель исследования</a:t>
            </a:r>
            <a:endParaRPr b="0" i="0" sz="1800" u="none" cap="none" strike="noStrike">
              <a:solidFill>
                <a:schemeClr val="lt1"/>
              </a:solidFill>
              <a:latin typeface="Montserrat"/>
              <a:ea typeface="Montserrat"/>
              <a:cs typeface="Montserrat"/>
              <a:sym typeface="Montserrat"/>
            </a:endParaRPr>
          </a:p>
        </p:txBody>
      </p:sp>
      <p:sp>
        <p:nvSpPr>
          <p:cNvPr id="106" name="Google Shape;106;p4"/>
          <p:cNvSpPr txBox="1"/>
          <p:nvPr/>
        </p:nvSpPr>
        <p:spPr>
          <a:xfrm>
            <a:off x="4616900" y="1096775"/>
            <a:ext cx="3841800" cy="205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1" i="0" lang="ru" sz="1800" u="none" cap="none" strike="noStrike">
                <a:solidFill>
                  <a:schemeClr val="lt1"/>
                </a:solidFill>
                <a:latin typeface="Montserrat"/>
                <a:ea typeface="Montserrat"/>
                <a:cs typeface="Montserrat"/>
                <a:sym typeface="Montserrat"/>
              </a:rPr>
              <a:t>Объект исследования</a:t>
            </a:r>
            <a:r>
              <a:rPr b="0" i="0" lang="ru" sz="1800" u="none" cap="none" strike="noStrike">
                <a:solidFill>
                  <a:schemeClr val="lt1"/>
                </a:solidFill>
                <a:latin typeface="Montserrat"/>
                <a:ea typeface="Montserrat"/>
                <a:cs typeface="Montserrat"/>
                <a:sym typeface="Montserrat"/>
              </a:rPr>
              <a:t>:</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b="1" i="0" lang="ru" sz="1800" u="none" cap="none" strike="noStrike">
                <a:solidFill>
                  <a:schemeClr val="lt1"/>
                </a:solidFill>
                <a:latin typeface="Montserrat"/>
                <a:ea typeface="Montserrat"/>
                <a:cs typeface="Montserrat"/>
                <a:sym typeface="Montserrat"/>
              </a:rPr>
              <a:t>Предмет исследования</a:t>
            </a:r>
            <a:r>
              <a:rPr b="0" i="0" lang="ru" sz="1800" u="none" cap="none" strike="noStrike">
                <a:solidFill>
                  <a:schemeClr val="lt1"/>
                </a:solidFill>
                <a:latin typeface="Montserrat"/>
                <a:ea typeface="Montserrat"/>
                <a:cs typeface="Montserrat"/>
                <a:sym typeface="Montserrat"/>
              </a:rPr>
              <a:t>:</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
          <p:cNvSpPr txBox="1"/>
          <p:nvPr/>
        </p:nvSpPr>
        <p:spPr>
          <a:xfrm>
            <a:off x="331280" y="28632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Гипотеза</a:t>
            </a:r>
            <a:r>
              <a:rPr b="1" lang="ru" sz="2800">
                <a:solidFill>
                  <a:schemeClr val="lt1"/>
                </a:solidFill>
                <a:latin typeface="Montserrat"/>
                <a:ea typeface="Montserrat"/>
                <a:cs typeface="Montserrat"/>
                <a:sym typeface="Montserrat"/>
              </a:rPr>
              <a:t>(ы)</a:t>
            </a:r>
            <a:r>
              <a:rPr b="1" i="0" lang="ru" sz="2800" u="none" cap="none" strike="noStrike">
                <a:solidFill>
                  <a:schemeClr val="lt1"/>
                </a:solidFill>
                <a:latin typeface="Montserrat"/>
                <a:ea typeface="Montserrat"/>
                <a:cs typeface="Montserrat"/>
                <a:sym typeface="Montserrat"/>
              </a:rPr>
              <a:t> исследования</a:t>
            </a:r>
            <a:endParaRPr b="1" i="0" sz="2800" u="none" cap="none" strike="noStrike">
              <a:solidFill>
                <a:schemeClr val="lt1"/>
              </a:solidFill>
              <a:latin typeface="Montserrat"/>
              <a:ea typeface="Montserrat"/>
              <a:cs typeface="Montserrat"/>
              <a:sym typeface="Montserrat"/>
            </a:endParaRPr>
          </a:p>
        </p:txBody>
      </p:sp>
      <p:pic>
        <p:nvPicPr>
          <p:cNvPr id="113" name="Google Shape;113;p7"/>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
        <p:nvSpPr>
          <p:cNvPr id="114" name="Google Shape;114;p7"/>
          <p:cNvSpPr txBox="1"/>
          <p:nvPr/>
        </p:nvSpPr>
        <p:spPr>
          <a:xfrm>
            <a:off x="372725" y="1800000"/>
            <a:ext cx="7858200" cy="2421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800"/>
              <a:buFont typeface="Arial"/>
              <a:buNone/>
            </a:pPr>
            <a:r>
              <a:rPr b="0" i="1" lang="ru" sz="1200" u="none" cap="none" strike="noStrike">
                <a:solidFill>
                  <a:srgbClr val="CC0000"/>
                </a:solidFill>
                <a:highlight>
                  <a:schemeClr val="lt1"/>
                </a:highlight>
                <a:latin typeface="Montserrat"/>
                <a:ea typeface="Montserrat"/>
                <a:cs typeface="Montserrat"/>
                <a:sym typeface="Montserrat"/>
              </a:rPr>
              <a:t>На основе теоретического анализа сформулируйте гипотезу или несколько. Гипотеза должна быть сформулирована однозначно, опровержимо, нетривиально и должны быть адекватна предлагаемой вами методологии. Не приводите сравнительного описания («лучше», «сильнее», «быстрее») без упоминания того, с чем сравниваете (конкретное решение, нетрадиционные подходы и прочее).  Гипотеза должна быть описана с метриками.</a:t>
            </a:r>
            <a:endParaRPr b="0" i="1" sz="1200" u="none" cap="none" strike="noStrike">
              <a:solidFill>
                <a:srgbClr val="CC0000"/>
              </a:solidFill>
              <a:highlight>
                <a:schemeClr val="lt1"/>
              </a:highlight>
              <a:latin typeface="Montserrat"/>
              <a:ea typeface="Montserrat"/>
              <a:cs typeface="Montserrat"/>
              <a:sym typeface="Montserrat"/>
            </a:endParaRPr>
          </a:p>
          <a:p>
            <a:pPr indent="0" lvl="0" marL="0" marR="0" rtl="0" algn="l">
              <a:lnSpc>
                <a:spcPct val="115000"/>
              </a:lnSpc>
              <a:spcBef>
                <a:spcPts val="1800"/>
              </a:spcBef>
              <a:spcAft>
                <a:spcPts val="0"/>
              </a:spcAft>
              <a:buClr>
                <a:schemeClr val="dk1"/>
              </a:buClr>
              <a:buSzPts val="1800"/>
              <a:buFont typeface="Arial"/>
              <a:buNone/>
            </a:pPr>
            <a:r>
              <a:rPr b="1" i="1" lang="ru" sz="1200">
                <a:solidFill>
                  <a:srgbClr val="CC0000"/>
                </a:solidFill>
                <a:highlight>
                  <a:schemeClr val="lt1"/>
                </a:highlight>
                <a:latin typeface="Montserrat"/>
                <a:ea typeface="Montserrat"/>
                <a:cs typeface="Montserrat"/>
                <a:sym typeface="Montserrat"/>
              </a:rPr>
              <a:t>Важно!</a:t>
            </a:r>
            <a:r>
              <a:rPr i="1" lang="ru" sz="1200">
                <a:solidFill>
                  <a:srgbClr val="CC0000"/>
                </a:solidFill>
                <a:highlight>
                  <a:schemeClr val="lt1"/>
                </a:highlight>
                <a:latin typeface="Montserrat"/>
                <a:ea typeface="Montserrat"/>
                <a:cs typeface="Montserrat"/>
                <a:sym typeface="Montserrat"/>
              </a:rPr>
              <a:t> </a:t>
            </a:r>
            <a:r>
              <a:rPr b="0" i="1" lang="ru" sz="1200" u="none" cap="none" strike="noStrike">
                <a:solidFill>
                  <a:srgbClr val="CC0000"/>
                </a:solidFill>
                <a:highlight>
                  <a:schemeClr val="lt1"/>
                </a:highlight>
                <a:latin typeface="Montserrat"/>
                <a:ea typeface="Montserrat"/>
                <a:cs typeface="Montserrat"/>
                <a:sym typeface="Montserrat"/>
              </a:rPr>
              <a:t>Помните, что проверкой </a:t>
            </a:r>
            <a:r>
              <a:rPr i="1" lang="ru" sz="1200">
                <a:solidFill>
                  <a:srgbClr val="CC0000"/>
                </a:solidFill>
                <a:highlight>
                  <a:schemeClr val="lt1"/>
                </a:highlight>
                <a:latin typeface="Montserrat"/>
                <a:ea typeface="Montserrat"/>
                <a:cs typeface="Montserrat"/>
                <a:sym typeface="Montserrat"/>
              </a:rPr>
              <a:t>своей </a:t>
            </a:r>
            <a:r>
              <a:rPr b="0" i="1" lang="ru" sz="1200" u="none" cap="none" strike="noStrike">
                <a:solidFill>
                  <a:srgbClr val="CC0000"/>
                </a:solidFill>
                <a:highlight>
                  <a:schemeClr val="lt1"/>
                </a:highlight>
                <a:latin typeface="Montserrat"/>
                <a:ea typeface="Montserrat"/>
                <a:cs typeface="Montserrat"/>
                <a:sym typeface="Montserrat"/>
              </a:rPr>
              <a:t>гипотезы вы целитесь в инновационную дельту </a:t>
            </a:r>
            <a:r>
              <a:rPr i="1" lang="ru" sz="1200">
                <a:solidFill>
                  <a:srgbClr val="CC0000"/>
                </a:solidFill>
                <a:highlight>
                  <a:schemeClr val="lt1"/>
                </a:highlight>
                <a:latin typeface="Montserrat"/>
                <a:ea typeface="Montserrat"/>
                <a:cs typeface="Montserrat"/>
                <a:sym typeface="Montserrat"/>
              </a:rPr>
              <a:t>—</a:t>
            </a:r>
            <a:r>
              <a:rPr b="0" i="1" lang="ru" sz="1200" u="none" cap="none" strike="noStrike">
                <a:solidFill>
                  <a:srgbClr val="CC0000"/>
                </a:solidFill>
                <a:highlight>
                  <a:schemeClr val="lt1"/>
                </a:highlight>
                <a:latin typeface="Montserrat"/>
                <a:ea typeface="Montserrat"/>
                <a:cs typeface="Montserrat"/>
                <a:sym typeface="Montserrat"/>
              </a:rPr>
              <a:t> достичь такого решения в </a:t>
            </a:r>
            <a:r>
              <a:rPr i="1" lang="ru" sz="1200">
                <a:solidFill>
                  <a:srgbClr val="CC0000"/>
                </a:solidFill>
                <a:highlight>
                  <a:schemeClr val="lt1"/>
                </a:highlight>
                <a:latin typeface="Montserrat"/>
                <a:ea typeface="Montserrat"/>
                <a:cs typeface="Montserrat"/>
                <a:sym typeface="Montserrat"/>
              </a:rPr>
              <a:t>своей</a:t>
            </a:r>
            <a:r>
              <a:rPr b="0" i="1" lang="ru" sz="1200" u="none" cap="none" strike="noStrike">
                <a:solidFill>
                  <a:srgbClr val="CC0000"/>
                </a:solidFill>
                <a:highlight>
                  <a:schemeClr val="lt1"/>
                </a:highlight>
                <a:latin typeface="Montserrat"/>
                <a:ea typeface="Montserrat"/>
                <a:cs typeface="Montserrat"/>
                <a:sym typeface="Montserrat"/>
              </a:rPr>
              <a:t> сфере, которое превзойдет по какому-то параметру или нескольким конкурентные аналоги.</a:t>
            </a:r>
            <a:endParaRPr b="0" i="1" sz="1200" u="none" cap="none" strike="noStrike">
              <a:solidFill>
                <a:srgbClr val="CC0000"/>
              </a:solidFill>
              <a:highlight>
                <a:schemeClr val="lt1"/>
              </a:highlight>
              <a:latin typeface="Montserrat"/>
              <a:ea typeface="Montserrat"/>
              <a:cs typeface="Montserrat"/>
              <a:sym typeface="Montserrat"/>
            </a:endParaRPr>
          </a:p>
          <a:p>
            <a:pPr indent="0" lvl="0" marL="0" marR="0" rtl="0" algn="l">
              <a:lnSpc>
                <a:spcPct val="115000"/>
              </a:lnSpc>
              <a:spcBef>
                <a:spcPts val="1800"/>
              </a:spcBef>
              <a:spcAft>
                <a:spcPts val="1000"/>
              </a:spcAft>
              <a:buClr>
                <a:schemeClr val="dk1"/>
              </a:buClr>
              <a:buSzPts val="1800"/>
              <a:buFont typeface="Arial"/>
              <a:buNone/>
            </a:pPr>
            <a:r>
              <a:rPr i="1" lang="ru" sz="1200">
                <a:solidFill>
                  <a:srgbClr val="CC0000"/>
                </a:solidFill>
                <a:highlight>
                  <a:schemeClr val="lt1"/>
                </a:highlight>
                <a:latin typeface="Montserrat"/>
                <a:ea typeface="Montserrat"/>
                <a:cs typeface="Montserrat"/>
                <a:sym typeface="Montserrat"/>
              </a:rPr>
              <a:t>При наличии нескольких гипотез выделите все по порядку.</a:t>
            </a:r>
            <a:endParaRPr i="1" sz="1200">
              <a:solidFill>
                <a:srgbClr val="CC0000"/>
              </a:solidFill>
              <a:highlight>
                <a:schemeClr val="lt1"/>
              </a:highlight>
              <a:latin typeface="Montserrat"/>
              <a:ea typeface="Montserrat"/>
              <a:cs typeface="Montserrat"/>
              <a:sym typeface="Montserrat"/>
            </a:endParaRPr>
          </a:p>
        </p:txBody>
      </p:sp>
      <p:sp>
        <p:nvSpPr>
          <p:cNvPr id="115" name="Google Shape;115;p7"/>
          <p:cNvSpPr txBox="1"/>
          <p:nvPr/>
        </p:nvSpPr>
        <p:spPr>
          <a:xfrm>
            <a:off x="355800" y="976500"/>
            <a:ext cx="8247900" cy="82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none" cap="none" strike="noStrike">
                <a:solidFill>
                  <a:schemeClr val="lt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a:t>
            </a:r>
            <a:r>
              <a:rPr lang="ru" sz="1800">
                <a:solidFill>
                  <a:schemeClr val="lt1"/>
                </a:solidFill>
                <a:latin typeface="Montserrat"/>
                <a:ea typeface="Montserrat"/>
                <a:cs typeface="Montserrat"/>
                <a:sym typeface="Montserrat"/>
              </a:rPr>
              <a:t>т</a:t>
            </a:r>
            <a:endParaRPr b="0" i="0" sz="2000" u="none" cap="none" strike="noStrike">
              <a:solidFill>
                <a:schemeClr val="lt1"/>
              </a:solidFill>
              <a:latin typeface="Montserrat"/>
              <a:ea typeface="Montserrat"/>
              <a:cs typeface="Montserrat"/>
              <a:sym typeface="Montserrat"/>
            </a:endParaRPr>
          </a:p>
        </p:txBody>
      </p:sp>
      <p:sp>
        <p:nvSpPr>
          <p:cNvPr id="116" name="Google Shape;116;p7"/>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chemeClr val="lt1"/>
                </a:solidFill>
                <a:latin typeface="Montserrat"/>
                <a:ea typeface="Montserrat"/>
                <a:cs typeface="Montserrat"/>
                <a:sym typeface="Montserrat"/>
              </a:rPr>
              <a:t>Ссылка на </a:t>
            </a:r>
            <a:r>
              <a:rPr lang="ru" sz="1600" u="sng">
                <a:solidFill>
                  <a:schemeClr val="lt1"/>
                </a:solidFill>
                <a:latin typeface="Montserrat"/>
                <a:ea typeface="Montserrat"/>
                <a:cs typeface="Montserrat"/>
                <a:sym typeface="Montserrat"/>
              </a:rPr>
              <a:t>параграф в структуре ВКР</a:t>
            </a:r>
            <a:endParaRPr b="0" i="0" sz="1600" u="sng" cap="none" strike="noStrike">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c2559ca67e_0_8"/>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extLst>
                  <a:ext uri="http://customooxmlschemas.google.com/">
                    <go:slidesCustomData xmlns:go="http://customooxmlschemas.google.com/" textRoundtripDataId="0"/>
                  </a:ext>
                </a:extLst>
              </a:rPr>
              <a:t>Методика(</a:t>
            </a:r>
            <a:r>
              <a:rPr b="1" lang="ru" sz="2800">
                <a:solidFill>
                  <a:srgbClr val="123194"/>
                </a:solidFill>
                <a:latin typeface="Montserrat"/>
                <a:ea typeface="Montserrat"/>
                <a:cs typeface="Montserrat"/>
                <a:sym typeface="Montserrat"/>
                <a:extLst>
                  <a:ext uri="http://customooxmlschemas.google.com/">
                    <go:slidesCustomData xmlns:go="http://customooxmlschemas.google.com/" textRoundtripDataId="1"/>
                  </a:ext>
                </a:extLst>
              </a:rPr>
              <a:t>и)</a:t>
            </a:r>
            <a:r>
              <a:rPr b="1" i="0" lang="ru" sz="2800" u="none" cap="none" strike="noStrike">
                <a:solidFill>
                  <a:srgbClr val="123194"/>
                </a:solidFill>
                <a:latin typeface="Montserrat"/>
                <a:ea typeface="Montserrat"/>
                <a:cs typeface="Montserrat"/>
                <a:sym typeface="Montserrat"/>
                <a:extLst>
                  <a:ext uri="http://customooxmlschemas.google.com/">
                    <go:slidesCustomData xmlns:go="http://customooxmlschemas.google.com/" textRoundtripDataId="2"/>
                  </a:ext>
                </a:extLst>
              </a:rPr>
              <a:t> </a:t>
            </a:r>
            <a:r>
              <a:rPr b="1" i="0" lang="ru" sz="2800" u="none" cap="none" strike="noStrike">
                <a:solidFill>
                  <a:srgbClr val="123194"/>
                </a:solidFill>
                <a:latin typeface="Montserrat"/>
                <a:ea typeface="Montserrat"/>
                <a:cs typeface="Montserrat"/>
                <a:sym typeface="Montserrat"/>
              </a:rPr>
              <a:t>проверки гипотезы</a:t>
            </a:r>
            <a:endParaRPr b="1" i="0" sz="2800" u="none" cap="none" strike="noStrike">
              <a:solidFill>
                <a:srgbClr val="123194"/>
              </a:solidFill>
              <a:latin typeface="Montserrat"/>
              <a:ea typeface="Montserrat"/>
              <a:cs typeface="Montserrat"/>
              <a:sym typeface="Montserrat"/>
            </a:endParaRPr>
          </a:p>
        </p:txBody>
      </p:sp>
      <p:sp>
        <p:nvSpPr>
          <p:cNvPr id="122" name="Google Shape;122;g3c2559ca67e_0_8"/>
          <p:cNvSpPr txBox="1"/>
          <p:nvPr/>
        </p:nvSpPr>
        <p:spPr>
          <a:xfrm>
            <a:off x="369925" y="1800000"/>
            <a:ext cx="8170800" cy="229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Для каждой гипотезы должн</a:t>
            </a:r>
            <a:r>
              <a:rPr i="1" lang="ru">
                <a:solidFill>
                  <a:srgbClr val="CC0000"/>
                </a:solidFill>
                <a:latin typeface="Montserrat"/>
                <a:ea typeface="Montserrat"/>
                <a:cs typeface="Montserrat"/>
                <a:sym typeface="Montserrat"/>
              </a:rPr>
              <a:t>ы</a:t>
            </a:r>
            <a:r>
              <a:rPr b="0" i="1" lang="ru" u="none" cap="none" strike="noStrike">
                <a:solidFill>
                  <a:srgbClr val="CC0000"/>
                </a:solidFill>
                <a:latin typeface="Montserrat"/>
                <a:ea typeface="Montserrat"/>
                <a:cs typeface="Montserrat"/>
                <a:sym typeface="Montserrat"/>
              </a:rPr>
              <a:t> быть приведен</a:t>
            </a:r>
            <a:r>
              <a:rPr i="1" lang="ru">
                <a:solidFill>
                  <a:srgbClr val="CC0000"/>
                </a:solidFill>
                <a:latin typeface="Montserrat"/>
                <a:ea typeface="Montserrat"/>
                <a:cs typeface="Montserrat"/>
                <a:sym typeface="Montserrat"/>
              </a:rPr>
              <a:t>ы задачи методики для </a:t>
            </a:r>
            <a:r>
              <a:rPr b="0" i="1" lang="ru" u="none" cap="none" strike="noStrike">
                <a:solidFill>
                  <a:srgbClr val="CC0000"/>
                </a:solidFill>
                <a:latin typeface="Montserrat"/>
                <a:ea typeface="Montserrat"/>
                <a:cs typeface="Montserrat"/>
                <a:sym typeface="Montserrat"/>
              </a:rPr>
              <a:t>проверки гипотез</a:t>
            </a:r>
            <a:r>
              <a:rPr i="1" lang="ru">
                <a:solidFill>
                  <a:srgbClr val="CC0000"/>
                </a:solidFill>
                <a:latin typeface="Montserrat"/>
                <a:ea typeface="Montserrat"/>
                <a:cs typeface="Montserrat"/>
                <a:sym typeface="Montserrat"/>
              </a:rPr>
              <a:t>. Методика описывается пошагово (по задачам), </a:t>
            </a:r>
            <a:r>
              <a:rPr b="0" i="1" lang="ru" u="none" cap="none" strike="noStrike">
                <a:solidFill>
                  <a:srgbClr val="CC0000"/>
                </a:solidFill>
                <a:latin typeface="Montserrat"/>
                <a:ea typeface="Montserrat"/>
                <a:cs typeface="Montserrat"/>
                <a:sym typeface="Montserrat"/>
              </a:rPr>
              <a:t>емко, с такой детализацией методов, чтобы внешний исследователь понял, что и за чем нужно сделать и на что обратить внимание. </a:t>
            </a:r>
            <a:r>
              <a:rPr i="1" lang="ru">
                <a:solidFill>
                  <a:srgbClr val="CC0000"/>
                </a:solidFill>
                <a:latin typeface="Montserrat"/>
                <a:ea typeface="Montserrat"/>
                <a:cs typeface="Montserrat"/>
                <a:sym typeface="Montserrat"/>
              </a:rPr>
              <a:t>П</a:t>
            </a:r>
            <a:r>
              <a:rPr b="0" i="1" lang="ru" u="none" cap="none" strike="noStrike">
                <a:solidFill>
                  <a:srgbClr val="CC0000"/>
                </a:solidFill>
                <a:latin typeface="Montserrat"/>
                <a:ea typeface="Montserrat"/>
                <a:cs typeface="Montserrat"/>
                <a:sym typeface="Montserrat"/>
              </a:rPr>
              <a:t>риложит</a:t>
            </a:r>
            <a:r>
              <a:rPr i="1" lang="ru">
                <a:solidFill>
                  <a:srgbClr val="CC0000"/>
                </a:solidFill>
                <a:latin typeface="Montserrat"/>
                <a:ea typeface="Montserrat"/>
                <a:cs typeface="Montserrat"/>
                <a:sym typeface="Montserrat"/>
              </a:rPr>
              <a:t>е</a:t>
            </a:r>
            <a:r>
              <a:rPr b="0" i="1" lang="ru" u="none" cap="none" strike="noStrike">
                <a:solidFill>
                  <a:srgbClr val="CC0000"/>
                </a:solidFill>
                <a:latin typeface="Montserrat"/>
                <a:ea typeface="Montserrat"/>
                <a:cs typeface="Montserrat"/>
                <a:sym typeface="Montserrat"/>
              </a:rPr>
              <a:t> ссылку на полную </a:t>
            </a:r>
            <a:r>
              <a:rPr i="1" lang="ru">
                <a:solidFill>
                  <a:srgbClr val="CC0000"/>
                </a:solidFill>
                <a:latin typeface="Montserrat"/>
                <a:ea typeface="Montserrat"/>
                <a:cs typeface="Montserrat"/>
                <a:sym typeface="Montserrat"/>
              </a:rPr>
              <a:t>описанную пошагово методику </a:t>
            </a:r>
            <a:r>
              <a:rPr b="0" i="1" lang="ru" u="none" cap="none" strike="noStrike">
                <a:solidFill>
                  <a:srgbClr val="CC0000"/>
                </a:solidFill>
                <a:latin typeface="Montserrat"/>
                <a:ea typeface="Montserrat"/>
                <a:cs typeface="Montserrat"/>
                <a:sym typeface="Montserrat"/>
              </a:rPr>
              <a:t>к этому слайду, укажите в ней объект и предмет </a:t>
            </a:r>
            <a:r>
              <a:rPr i="1" lang="ru">
                <a:solidFill>
                  <a:srgbClr val="CC0000"/>
                </a:solidFill>
                <a:latin typeface="Montserrat"/>
                <a:ea typeface="Montserrat"/>
                <a:cs typeface="Montserrat"/>
                <a:sym typeface="Montserrat"/>
              </a:rPr>
              <a:t>своего</a:t>
            </a:r>
            <a:r>
              <a:rPr b="0" i="1" lang="ru" u="none" cap="none" strike="noStrike">
                <a:solidFill>
                  <a:srgbClr val="CC0000"/>
                </a:solidFill>
                <a:latin typeface="Montserrat"/>
                <a:ea typeface="Montserrat"/>
                <a:cs typeface="Montserrat"/>
                <a:sym typeface="Montserrat"/>
              </a:rPr>
              <a:t> исследования. </a:t>
            </a:r>
            <a:r>
              <a:rPr i="1" lang="ru">
                <a:solidFill>
                  <a:srgbClr val="CC0000"/>
                </a:solidFill>
                <a:latin typeface="Montserrat"/>
                <a:ea typeface="Montserrat"/>
                <a:cs typeface="Montserrat"/>
                <a:sym typeface="Montserrat"/>
              </a:rPr>
              <a:t>При необходимости продублируйте слайд для каждой гипотезы.</a:t>
            </a:r>
            <a:endParaRPr i="1">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1" i="1" lang="ru">
                <a:solidFill>
                  <a:srgbClr val="CC0000"/>
                </a:solidFill>
                <a:latin typeface="Montserrat"/>
                <a:ea typeface="Montserrat"/>
                <a:cs typeface="Montserrat"/>
                <a:sym typeface="Montserrat"/>
              </a:rPr>
              <a:t>Важно!</a:t>
            </a:r>
            <a:r>
              <a:rPr i="1" lang="ru">
                <a:solidFill>
                  <a:srgbClr val="CC0000"/>
                </a:solidFill>
                <a:latin typeface="Montserrat"/>
                <a:ea typeface="Montserrat"/>
                <a:cs typeface="Montserrat"/>
                <a:sym typeface="Montserrat"/>
              </a:rPr>
              <a:t> Методика должна содержать по меньшей мере один эксперимент (помните, что это означает, что вы непосредственно влияете на ваш объект).</a:t>
            </a:r>
            <a:endParaRPr i="1">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t/>
            </a:r>
            <a:endParaRPr i="1">
              <a:solidFill>
                <a:srgbClr val="CC0000"/>
              </a:solidFill>
              <a:latin typeface="Montserrat"/>
              <a:ea typeface="Montserrat"/>
              <a:cs typeface="Montserrat"/>
              <a:sym typeface="Montserrat"/>
            </a:endParaRPr>
          </a:p>
        </p:txBody>
      </p:sp>
      <p:sp>
        <p:nvSpPr>
          <p:cNvPr id="123" name="Google Shape;123;g3c2559ca67e_0_8"/>
          <p:cNvSpPr txBox="1"/>
          <p:nvPr/>
        </p:nvSpPr>
        <p:spPr>
          <a:xfrm>
            <a:off x="355800" y="976500"/>
            <a:ext cx="8247900" cy="82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none" cap="none" strike="noStrike">
                <a:solidFill>
                  <a:srgbClr val="000000"/>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текст</a:t>
            </a:r>
            <a:endParaRPr b="0" i="0" sz="2000" u="none" cap="none" strike="noStrike">
              <a:solidFill>
                <a:srgbClr val="000000"/>
              </a:solidFill>
              <a:latin typeface="Montserrat"/>
              <a:ea typeface="Montserrat"/>
              <a:cs typeface="Montserrat"/>
              <a:sym typeface="Montserrat"/>
            </a:endParaRPr>
          </a:p>
        </p:txBody>
      </p:sp>
      <p:sp>
        <p:nvSpPr>
          <p:cNvPr id="124" name="Google Shape;124;g3c2559ca67e_0_8"/>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раздел </a:t>
            </a:r>
            <a:r>
              <a:rPr lang="ru" sz="1600" u="sng">
                <a:solidFill>
                  <a:srgbClr val="123194"/>
                </a:solidFill>
                <a:latin typeface="Montserrat"/>
                <a:ea typeface="Montserrat"/>
                <a:cs typeface="Montserrat"/>
                <a:sym typeface="Montserrat"/>
              </a:rPr>
              <a:t>в структуре ВКР</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30" name="Google Shape;130;p10"/>
          <p:cNvSpPr txBox="1"/>
          <p:nvPr/>
        </p:nvSpPr>
        <p:spPr>
          <a:xfrm>
            <a:off x="368558" y="2820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Источники данных для исследования</a:t>
            </a:r>
            <a:endParaRPr b="1" i="0" sz="2800" u="none" cap="none" strike="noStrike">
              <a:solidFill>
                <a:srgbClr val="123194"/>
              </a:solidFill>
              <a:latin typeface="Montserrat"/>
              <a:ea typeface="Montserrat"/>
              <a:cs typeface="Montserrat"/>
              <a:sym typeface="Montserrat"/>
            </a:endParaRPr>
          </a:p>
        </p:txBody>
      </p:sp>
      <p:sp>
        <p:nvSpPr>
          <p:cNvPr id="131" name="Google Shape;131;p10"/>
          <p:cNvSpPr txBox="1"/>
          <p:nvPr/>
        </p:nvSpPr>
        <p:spPr>
          <a:xfrm>
            <a:off x="279600" y="948750"/>
            <a:ext cx="8167800" cy="1785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Montserrat"/>
              <a:buChar char="●"/>
            </a:pPr>
            <a:r>
              <a:rPr b="0" i="0" lang="ru" sz="1800" u="none" cap="none" strike="noStrike">
                <a:solidFill>
                  <a:srgbClr val="000000"/>
                </a:solidFill>
                <a:latin typeface="Montserrat"/>
                <a:ea typeface="Montserrat"/>
                <a:cs typeface="Montserrat"/>
                <a:sym typeface="Montserrat"/>
              </a:rPr>
              <a:t>Используемые для исследования данные (и</a:t>
            </a:r>
            <a:r>
              <a:rPr lang="ru" sz="1800">
                <a:latin typeface="Montserrat"/>
                <a:ea typeface="Montserrat"/>
                <a:cs typeface="Montserrat"/>
                <a:sym typeface="Montserrat"/>
              </a:rPr>
              <a:t>сточник)</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Используемые для исследования данные </a:t>
            </a:r>
            <a:r>
              <a:rPr lang="ru" sz="1800">
                <a:solidFill>
                  <a:schemeClr val="dk1"/>
                </a:solidFill>
                <a:latin typeface="Montserrat"/>
                <a:ea typeface="Montserrat"/>
                <a:cs typeface="Montserrat"/>
                <a:sym typeface="Montserrat"/>
              </a:rPr>
              <a:t>(источник)</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Используемые для исследования данные </a:t>
            </a:r>
            <a:r>
              <a:rPr lang="ru" sz="1800">
                <a:solidFill>
                  <a:schemeClr val="dk1"/>
                </a:solidFill>
                <a:latin typeface="Montserrat"/>
                <a:ea typeface="Montserrat"/>
                <a:cs typeface="Montserrat"/>
                <a:sym typeface="Montserrat"/>
              </a:rPr>
              <a:t>(источник)</a:t>
            </a:r>
            <a:endParaRPr b="0" i="0" sz="18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
        <p:nvSpPr>
          <p:cNvPr id="132" name="Google Shape;132;p10"/>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раздел в структуре ВКР</a:t>
            </a:r>
            <a:endParaRPr b="0" i="0" sz="1600" u="sng" cap="none" strike="noStrike">
              <a:solidFill>
                <a:srgbClr val="123194"/>
              </a:solidFill>
              <a:latin typeface="Montserrat"/>
              <a:ea typeface="Montserrat"/>
              <a:cs typeface="Montserrat"/>
              <a:sym typeface="Montserrat"/>
            </a:endParaRPr>
          </a:p>
        </p:txBody>
      </p:sp>
      <p:sp>
        <p:nvSpPr>
          <p:cNvPr id="133" name="Google Shape;133;p10"/>
          <p:cNvSpPr txBox="1"/>
          <p:nvPr/>
        </p:nvSpPr>
        <p:spPr>
          <a:xfrm>
            <a:off x="369925" y="2734050"/>
            <a:ext cx="8170800" cy="185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i="1" lang="ru">
                <a:solidFill>
                  <a:srgbClr val="CC0000"/>
                </a:solidFill>
                <a:latin typeface="Montserrat"/>
                <a:ea typeface="Montserrat"/>
                <a:cs typeface="Montserrat"/>
                <a:sym typeface="Montserrat"/>
              </a:rPr>
              <a:t>Должны быть описаны датасеты: содержание, актуальность (с указанием года), источник (откуда взяты/собраны). </a:t>
            </a:r>
            <a:r>
              <a:rPr i="1" lang="ru">
                <a:solidFill>
                  <a:srgbClr val="CC0000"/>
                </a:solidFill>
                <a:latin typeface="Montserrat"/>
                <a:ea typeface="Montserrat"/>
                <a:cs typeface="Montserrat"/>
                <a:sym typeface="Montserrat"/>
                <a:extLst>
                  <a:ext uri="http://customooxmlschemas.google.com/">
                    <go:slidesCustomData xmlns:go="http://customooxmlschemas.google.com/" textRoundtripDataId="3"/>
                  </a:ext>
                </a:extLst>
              </a:rPr>
              <a:t>Источники данных могут быть первичными (собранными самостоятельно из интервью, открытых источников и пр.), а также вторичным (с указанием и отсылками).</a:t>
            </a:r>
            <a:endParaRPr i="1">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i="1" lang="ru">
                <a:solidFill>
                  <a:srgbClr val="CC0000"/>
                </a:solidFill>
                <a:latin typeface="Montserrat"/>
                <a:ea typeface="Montserrat"/>
                <a:cs typeface="Montserrat"/>
                <a:sym typeface="Montserrat"/>
              </a:rPr>
              <a:t>Должно быть прокомментировано, как вы используете эти данные (в рамках каких задач и методов).</a:t>
            </a:r>
            <a:endParaRPr i="1">
              <a:solidFill>
                <a:srgbClr val="CC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ad0e75760e_0_81"/>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a:t>
            </a:r>
            <a:r>
              <a:rPr b="1" i="0" lang="ru" sz="2800" u="none" cap="none" strike="noStrike">
                <a:solidFill>
                  <a:srgbClr val="123194"/>
                </a:solidFill>
                <a:latin typeface="Montserrat"/>
                <a:ea typeface="Montserrat"/>
                <a:cs typeface="Montserrat"/>
                <a:sym typeface="Montserrat"/>
              </a:rPr>
              <a:t>Дизайн эксперимента</a:t>
            </a:r>
            <a:endParaRPr b="1" i="0" sz="2800" u="none" cap="none" strike="noStrike">
              <a:solidFill>
                <a:srgbClr val="123194"/>
              </a:solidFill>
              <a:latin typeface="Montserrat"/>
              <a:ea typeface="Montserrat"/>
              <a:cs typeface="Montserrat"/>
              <a:sym typeface="Montserrat"/>
            </a:endParaRPr>
          </a:p>
        </p:txBody>
      </p:sp>
      <p:sp>
        <p:nvSpPr>
          <p:cNvPr id="139" name="Google Shape;139;g3ad0e75760e_0_81"/>
          <p:cNvSpPr txBox="1"/>
          <p:nvPr/>
        </p:nvSpPr>
        <p:spPr>
          <a:xfrm>
            <a:off x="369925" y="2353075"/>
            <a:ext cx="8167800" cy="185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800"/>
              <a:buFont typeface="Arial"/>
              <a:buNone/>
            </a:pPr>
            <a:r>
              <a:rPr b="0" i="1" lang="ru" u="none" cap="none" strike="noStrike">
                <a:solidFill>
                  <a:srgbClr val="CC0000"/>
                </a:solidFill>
                <a:latin typeface="Montserrat"/>
                <a:ea typeface="Montserrat"/>
                <a:cs typeface="Montserrat"/>
                <a:sym typeface="Montserrat"/>
              </a:rPr>
              <a:t>Вы можете использовать этот вспомогательный слайд для того, чтобы отдельно описать (тексто</a:t>
            </a:r>
            <a:r>
              <a:rPr i="1" lang="ru">
                <a:solidFill>
                  <a:srgbClr val="CC0000"/>
                </a:solidFill>
                <a:latin typeface="Montserrat"/>
                <a:ea typeface="Montserrat"/>
                <a:cs typeface="Montserrat"/>
                <a:sym typeface="Montserrat"/>
              </a:rPr>
              <a:t>м, схемой </a:t>
            </a:r>
            <a:r>
              <a:rPr b="0" i="1" lang="ru" u="none" cap="none" strike="noStrike">
                <a:solidFill>
                  <a:srgbClr val="CC0000"/>
                </a:solidFill>
                <a:latin typeface="Montserrat"/>
                <a:ea typeface="Montserrat"/>
                <a:cs typeface="Montserrat"/>
                <a:sym typeface="Montserrat"/>
              </a:rPr>
              <a:t>или иначе) свой </a:t>
            </a:r>
            <a:r>
              <a:rPr b="1" i="1" lang="ru" cap="none" strike="noStrike">
                <a:solidFill>
                  <a:srgbClr val="CC0000"/>
                </a:solidFill>
                <a:latin typeface="Montserrat"/>
                <a:ea typeface="Montserrat"/>
                <a:cs typeface="Montserrat"/>
                <a:sym typeface="Montserrat"/>
              </a:rPr>
              <a:t>эксперимент</a:t>
            </a:r>
            <a:r>
              <a:rPr b="0" i="1" lang="ru" u="none" cap="none" strike="noStrike">
                <a:solidFill>
                  <a:srgbClr val="CC0000"/>
                </a:solidFill>
                <a:latin typeface="Montserrat"/>
                <a:ea typeface="Montserrat"/>
                <a:cs typeface="Montserrat"/>
                <a:sym typeface="Montserrat"/>
              </a:rPr>
              <a:t>, который должен быть частью вашей </a:t>
            </a:r>
            <a:r>
              <a:rPr i="1" lang="ru">
                <a:solidFill>
                  <a:srgbClr val="CC0000"/>
                </a:solidFill>
                <a:latin typeface="Montserrat"/>
                <a:ea typeface="Montserrat"/>
                <a:cs typeface="Montserrat"/>
                <a:sym typeface="Montserrat"/>
              </a:rPr>
              <a:t>методики </a:t>
            </a:r>
            <a:r>
              <a:rPr b="0" i="1" lang="ru" u="none" cap="none" strike="noStrike">
                <a:solidFill>
                  <a:srgbClr val="CC0000"/>
                </a:solidFill>
                <a:latin typeface="Montserrat"/>
                <a:ea typeface="Montserrat"/>
                <a:cs typeface="Montserrat"/>
                <a:sym typeface="Montserrat"/>
              </a:rPr>
              <a:t>исследования.</a:t>
            </a:r>
            <a:endParaRPr b="0" i="1" u="none" cap="none" strike="noStrike">
              <a:solidFill>
                <a:srgbClr val="CC0000"/>
              </a:solidFill>
              <a:latin typeface="Montserrat"/>
              <a:ea typeface="Montserrat"/>
              <a:cs typeface="Montserrat"/>
              <a:sym typeface="Montserrat"/>
            </a:endParaRPr>
          </a:p>
        </p:txBody>
      </p:sp>
      <p:pic>
        <p:nvPicPr>
          <p:cNvPr id="140" name="Google Shape;140;g3ad0e75760e_0_81"/>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41" name="Google Shape;141;g3ad0e75760e_0_81"/>
          <p:cNvSpPr txBox="1"/>
          <p:nvPr/>
        </p:nvSpPr>
        <p:spPr>
          <a:xfrm>
            <a:off x="355800" y="976500"/>
            <a:ext cx="8247900" cy="823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none" cap="none" strike="noStrike">
                <a:solidFill>
                  <a:srgbClr val="000000"/>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текст</a:t>
            </a:r>
            <a:endParaRPr b="0" i="1" sz="1800" u="none" cap="none" strike="noStrike">
              <a:solidFill>
                <a:srgbClr val="CC0000"/>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i="0" sz="2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ad0e75760e_0_24"/>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*ML-решение: кратко</a:t>
            </a:r>
            <a:endParaRPr b="1" i="0" sz="2800" u="none" cap="none" strike="noStrike">
              <a:solidFill>
                <a:srgbClr val="123194"/>
              </a:solidFill>
              <a:latin typeface="Montserrat"/>
              <a:ea typeface="Montserrat"/>
              <a:cs typeface="Montserrat"/>
              <a:sym typeface="Montserrat"/>
            </a:endParaRPr>
          </a:p>
        </p:txBody>
      </p:sp>
      <p:sp>
        <p:nvSpPr>
          <p:cNvPr id="147" name="Google Shape;147;g3ad0e75760e_0_24"/>
          <p:cNvSpPr txBox="1"/>
          <p:nvPr/>
        </p:nvSpPr>
        <p:spPr>
          <a:xfrm>
            <a:off x="369925" y="1011650"/>
            <a:ext cx="8167800" cy="319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Задача: предсказать &lt;что&gt; для &lt;объект: пользователь/сделка/тик&gt;</a:t>
            </a:r>
            <a:endParaRPr b="0" i="0" sz="15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Датасет: &lt;N объектов&gt;, период &lt;даты&gt;</a:t>
            </a:r>
            <a:endParaRPr b="0" i="0" sz="15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Вход (X): &lt;основные группы фич, 2</a:t>
            </a:r>
            <a:r>
              <a:rPr lang="ru" sz="1500">
                <a:solidFill>
                  <a:schemeClr val="dk1"/>
                </a:solidFill>
                <a:latin typeface="Montserrat"/>
                <a:ea typeface="Montserrat"/>
                <a:cs typeface="Montserrat"/>
                <a:sym typeface="Montserrat"/>
              </a:rPr>
              <a:t>–</a:t>
            </a:r>
            <a:r>
              <a:rPr b="0" i="0" lang="ru" sz="1500" u="none" cap="none" strike="noStrike">
                <a:solidFill>
                  <a:schemeClr val="dk1"/>
                </a:solidFill>
                <a:latin typeface="Montserrat"/>
                <a:ea typeface="Montserrat"/>
                <a:cs typeface="Montserrat"/>
                <a:sym typeface="Montserrat"/>
              </a:rPr>
              <a:t>3&gt;</a:t>
            </a:r>
            <a:endParaRPr b="0" i="0" sz="15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Выход (ŷ): &lt;что именно выдает модель: вероятность / класс / число&gt;</a:t>
            </a:r>
            <a:endParaRPr b="0" i="0" sz="15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Модель: &lt;тип модели, например: XGBoost, TCN, другие&gt;</a:t>
            </a:r>
            <a:endParaRPr b="0" i="0" sz="15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Метрика: &lt;ключевая&gt;</a:t>
            </a:r>
            <a:endParaRPr b="0" i="0" sz="15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rPr b="0" i="0" lang="ru" sz="1500" u="none" cap="none" strike="noStrike">
                <a:solidFill>
                  <a:schemeClr val="dk1"/>
                </a:solidFill>
                <a:latin typeface="Montserrat"/>
                <a:ea typeface="Montserrat"/>
                <a:cs typeface="Montserrat"/>
                <a:sym typeface="Montserrat"/>
              </a:rPr>
              <a:t>Оценка: baseline &lt;число&gt; → модель &lt;число&gt;, &lt;1 строка бизнес-эффекта&gt; </a:t>
            </a:r>
            <a:endParaRPr b="0" i="0" sz="1500" u="none" cap="none" strike="noStrike">
              <a:solidFill>
                <a:schemeClr val="dk1"/>
              </a:solidFill>
              <a:latin typeface="Montserrat"/>
              <a:ea typeface="Montserrat"/>
              <a:cs typeface="Montserrat"/>
              <a:sym typeface="Montserrat"/>
            </a:endParaRPr>
          </a:p>
        </p:txBody>
      </p:sp>
      <p:sp>
        <p:nvSpPr>
          <p:cNvPr id="148" name="Google Shape;148;g3ad0e75760e_0_24"/>
          <p:cNvSpPr txBox="1"/>
          <p:nvPr/>
        </p:nvSpPr>
        <p:spPr>
          <a:xfrm>
            <a:off x="369925" y="44144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результаты экспериментов</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c2559ca67e_0_63"/>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Результаты </a:t>
            </a:r>
            <a:r>
              <a:rPr b="1" lang="ru" sz="2800">
                <a:solidFill>
                  <a:srgbClr val="123194"/>
                </a:solidFill>
                <a:latin typeface="Montserrat"/>
                <a:ea typeface="Montserrat"/>
                <a:cs typeface="Montserrat"/>
                <a:sym typeface="Montserrat"/>
              </a:rPr>
              <a:t>проверки гипотез(ы)</a:t>
            </a:r>
            <a:endParaRPr b="1" i="0" sz="2800" u="none" cap="none" strike="noStrike">
              <a:solidFill>
                <a:srgbClr val="123194"/>
              </a:solidFill>
              <a:latin typeface="Montserrat"/>
              <a:ea typeface="Montserrat"/>
              <a:cs typeface="Montserrat"/>
              <a:sym typeface="Montserrat"/>
            </a:endParaRPr>
          </a:p>
        </p:txBody>
      </p:sp>
      <p:sp>
        <p:nvSpPr>
          <p:cNvPr id="154" name="Google Shape;154;g3c2559ca67e_0_63"/>
          <p:cNvSpPr txBox="1"/>
          <p:nvPr/>
        </p:nvSpPr>
        <p:spPr>
          <a:xfrm>
            <a:off x="369925" y="1062825"/>
            <a:ext cx="8167800" cy="335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По каждой гипотезе приведите результаты реализации </a:t>
            </a:r>
            <a:r>
              <a:rPr i="1" lang="ru">
                <a:solidFill>
                  <a:srgbClr val="CC0000"/>
                </a:solidFill>
                <a:latin typeface="Montserrat"/>
                <a:ea typeface="Montserrat"/>
                <a:cs typeface="Montserrat"/>
                <a:sym typeface="Montserrat"/>
              </a:rPr>
              <a:t>методики </a:t>
            </a:r>
            <a:r>
              <a:rPr b="0" i="1" lang="ru" u="none" cap="none" strike="noStrike">
                <a:solidFill>
                  <a:srgbClr val="CC0000"/>
                </a:solidFill>
                <a:latin typeface="Montserrat"/>
                <a:ea typeface="Montserrat"/>
                <a:cs typeface="Montserrat"/>
                <a:sym typeface="Montserrat"/>
              </a:rPr>
              <a:t>и метрики/состояния и иные результаты, которых удалось достичь. С</a:t>
            </a:r>
            <a:r>
              <a:rPr i="1" lang="ru">
                <a:solidFill>
                  <a:srgbClr val="CC0000"/>
                </a:solidFill>
                <a:latin typeface="Montserrat"/>
                <a:ea typeface="Montserrat"/>
                <a:cs typeface="Montserrat"/>
                <a:sym typeface="Montserrat"/>
              </a:rPr>
              <a:t>опроводите визуализацией и приведите резюме анализа</a:t>
            </a:r>
            <a:r>
              <a:rPr b="0" i="1" lang="ru" u="none" cap="none" strike="noStrike">
                <a:solidFill>
                  <a:srgbClr val="CC0000"/>
                </a:solidFill>
                <a:latin typeface="Montserrat"/>
                <a:ea typeface="Montserrat"/>
                <a:cs typeface="Montserrat"/>
                <a:sym typeface="Montserrat"/>
              </a:rPr>
              <a:t>. Визуализацию </a:t>
            </a:r>
            <a:r>
              <a:rPr i="1" lang="ru">
                <a:solidFill>
                  <a:srgbClr val="CC0000"/>
                </a:solidFill>
                <a:latin typeface="Montserrat"/>
                <a:ea typeface="Montserrat"/>
                <a:cs typeface="Montserrat"/>
                <a:sym typeface="Montserrat"/>
              </a:rPr>
              <a:t>вы адаптируете под себя (таблицы, схемы, графики, диаграммы, код и пр.; собственно, статистические значения по проверкам).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i="1" lang="ru">
                <a:solidFill>
                  <a:srgbClr val="CC0000"/>
                </a:solidFill>
                <a:latin typeface="Montserrat"/>
                <a:ea typeface="Montserrat"/>
                <a:cs typeface="Montserrat"/>
                <a:sym typeface="Montserrat"/>
              </a:rPr>
              <a:t>П</a:t>
            </a:r>
            <a:r>
              <a:rPr b="0" i="1" lang="ru" u="none" cap="none" strike="noStrike">
                <a:solidFill>
                  <a:srgbClr val="CC0000"/>
                </a:solidFill>
                <a:latin typeface="Montserrat"/>
                <a:ea typeface="Montserrat"/>
                <a:cs typeface="Montserrat"/>
                <a:sym typeface="Montserrat"/>
              </a:rPr>
              <a:t>рикрепите ссылки на результаты.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t/>
            </a:r>
            <a:endParaRPr b="0" i="1" sz="1600" u="none" cap="none" strike="noStrike">
              <a:solidFill>
                <a:srgbClr val="CC0000"/>
              </a:solidFill>
              <a:latin typeface="Montserrat"/>
              <a:ea typeface="Montserrat"/>
              <a:cs typeface="Montserrat"/>
              <a:sym typeface="Montserrat"/>
            </a:endParaRPr>
          </a:p>
        </p:txBody>
      </p:sp>
      <p:sp>
        <p:nvSpPr>
          <p:cNvPr id="155" name="Google Shape;155;g3c2559ca67e_0_63"/>
          <p:cNvSpPr txBox="1"/>
          <p:nvPr/>
        </p:nvSpPr>
        <p:spPr>
          <a:xfrm>
            <a:off x="369925" y="44144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результаты исследований и на раздел в ВКР</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g3c2559ca67e_0_179"/>
          <p:cNvPicPr preferRelativeResize="0"/>
          <p:nvPr/>
        </p:nvPicPr>
        <p:blipFill rotWithShape="1">
          <a:blip r:embed="rId3">
            <a:alphaModFix/>
          </a:blip>
          <a:srcRect b="0" l="0" r="0" t="0"/>
          <a:stretch/>
        </p:blipFill>
        <p:spPr>
          <a:xfrm>
            <a:off x="388628" y="156412"/>
            <a:ext cx="847909" cy="415398"/>
          </a:xfrm>
          <a:prstGeom prst="rect">
            <a:avLst/>
          </a:prstGeom>
          <a:noFill/>
          <a:ln>
            <a:noFill/>
          </a:ln>
        </p:spPr>
      </p:pic>
      <p:sp>
        <p:nvSpPr>
          <p:cNvPr id="161" name="Google Shape;161;g3c2559ca67e_0_179"/>
          <p:cNvSpPr/>
          <p:nvPr/>
        </p:nvSpPr>
        <p:spPr>
          <a:xfrm>
            <a:off x="5870725" y="2565950"/>
            <a:ext cx="2429400" cy="2241000"/>
          </a:xfrm>
          <a:prstGeom prst="rect">
            <a:avLst/>
          </a:prstGeom>
          <a:solidFill>
            <a:srgbClr val="EEEEEE"/>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ru" sz="1400" u="none" cap="none" strike="noStrike">
                <a:solidFill>
                  <a:srgbClr val="000000"/>
                </a:solidFill>
                <a:latin typeface="Montserrat"/>
                <a:ea typeface="Montserrat"/>
                <a:cs typeface="Montserrat"/>
                <a:sym typeface="Montserrat"/>
              </a:rPr>
              <a:t>QR код на демо</a:t>
            </a:r>
            <a:r>
              <a:rPr lang="ru">
                <a:latin typeface="Montserrat"/>
                <a:ea typeface="Montserrat"/>
                <a:cs typeface="Montserrat"/>
                <a:sym typeface="Montserrat"/>
              </a:rPr>
              <a:t>,</a:t>
            </a:r>
            <a:r>
              <a:rPr b="0" i="0" lang="ru" sz="1400" u="none" cap="none" strike="noStrike">
                <a:solidFill>
                  <a:srgbClr val="000000"/>
                </a:solidFill>
                <a:latin typeface="Montserrat"/>
                <a:ea typeface="Montserrat"/>
                <a:cs typeface="Montserrat"/>
                <a:sym typeface="Montserrat"/>
              </a:rPr>
              <a:t> </a:t>
            </a:r>
            <a:endParaRPr b="0" i="0" sz="14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rPr b="0" i="0" lang="ru" sz="1400" u="none" cap="none" strike="noStrike">
                <a:solidFill>
                  <a:srgbClr val="000000"/>
                </a:solidFill>
                <a:latin typeface="Montserrat"/>
                <a:ea typeface="Montserrat"/>
                <a:cs typeface="Montserrat"/>
                <a:sym typeface="Montserrat"/>
              </a:rPr>
              <a:t>изображение</a:t>
            </a:r>
            <a:r>
              <a:rPr lang="ru">
                <a:latin typeface="Montserrat"/>
                <a:ea typeface="Montserrat"/>
                <a:cs typeface="Montserrat"/>
                <a:sym typeface="Montserrat"/>
              </a:rPr>
              <a:t>,</a:t>
            </a:r>
            <a:endParaRPr b="0" i="0" sz="14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rPr b="0" i="0" lang="ru" sz="1400" u="none" cap="none" strike="noStrike">
                <a:solidFill>
                  <a:srgbClr val="000000"/>
                </a:solidFill>
                <a:latin typeface="Montserrat"/>
                <a:ea typeface="Montserrat"/>
                <a:cs typeface="Montserrat"/>
                <a:sym typeface="Montserrat"/>
              </a:rPr>
              <a:t>скриншот</a:t>
            </a:r>
            <a:endParaRPr b="0" i="0" sz="1400" u="none" cap="none" strike="noStrike">
              <a:solidFill>
                <a:srgbClr val="000000"/>
              </a:solidFill>
              <a:latin typeface="Montserrat"/>
              <a:ea typeface="Montserrat"/>
              <a:cs typeface="Montserrat"/>
              <a:sym typeface="Montserrat"/>
            </a:endParaRPr>
          </a:p>
        </p:txBody>
      </p:sp>
      <p:sp>
        <p:nvSpPr>
          <p:cNvPr id="162" name="Google Shape;162;g3c2559ca67e_0_179"/>
          <p:cNvSpPr txBox="1"/>
          <p:nvPr/>
        </p:nvSpPr>
        <p:spPr>
          <a:xfrm>
            <a:off x="364675" y="965225"/>
            <a:ext cx="7935300" cy="86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ru" sz="4000" u="sng">
                <a:solidFill>
                  <a:srgbClr val="123194"/>
                </a:solidFill>
                <a:latin typeface="Montserrat"/>
                <a:ea typeface="Montserrat"/>
                <a:cs typeface="Montserrat"/>
                <a:sym typeface="Montserrat"/>
              </a:rPr>
              <a:t>*</a:t>
            </a:r>
            <a:r>
              <a:rPr lang="ru" sz="4000" u="sng">
                <a:solidFill>
                  <a:srgbClr val="123194"/>
                </a:solidFill>
                <a:latin typeface="Montserrat"/>
                <a:ea typeface="Montserrat"/>
                <a:cs typeface="Montserrat"/>
                <a:sym typeface="Montserrat"/>
              </a:rPr>
              <a:t>Ссылка на артефакт/демо</a:t>
            </a:r>
            <a:endParaRPr sz="4000" u="sng">
              <a:solidFill>
                <a:srgbClr val="123194"/>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i="1">
              <a:latin typeface="Montserrat"/>
              <a:ea typeface="Montserrat"/>
              <a:cs typeface="Montserrat"/>
              <a:sym typeface="Montserrat"/>
            </a:endParaRPr>
          </a:p>
        </p:txBody>
      </p:sp>
      <p:sp>
        <p:nvSpPr>
          <p:cNvPr id="163" name="Google Shape;163;g3c2559ca67e_0_179"/>
          <p:cNvSpPr txBox="1"/>
          <p:nvPr/>
        </p:nvSpPr>
        <p:spPr>
          <a:xfrm>
            <a:off x="388625" y="1828800"/>
            <a:ext cx="78237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ru">
                <a:solidFill>
                  <a:srgbClr val="CC0000"/>
                </a:solidFill>
                <a:latin typeface="Montserrat"/>
                <a:ea typeface="Montserrat"/>
                <a:cs typeface="Montserrat"/>
                <a:sym typeface="Montserrat"/>
              </a:rPr>
              <a:t>П</a:t>
            </a:r>
            <a:r>
              <a:rPr i="1" lang="ru">
                <a:solidFill>
                  <a:srgbClr val="CC0000"/>
                </a:solidFill>
                <a:latin typeface="Montserrat"/>
                <a:ea typeface="Montserrat"/>
                <a:cs typeface="Montserrat"/>
                <a:sym typeface="Montserrat"/>
              </a:rPr>
              <a:t>ри необходимости демонстрации результатов работы добавьте ссылку на демо, запись, gif функционирования или QR-переход для тестирования. </a:t>
            </a:r>
            <a:br>
              <a:rPr i="1" lang="ru">
                <a:solidFill>
                  <a:srgbClr val="CC0000"/>
                </a:solidFill>
                <a:latin typeface="Montserrat"/>
                <a:ea typeface="Montserrat"/>
                <a:cs typeface="Montserrat"/>
                <a:sym typeface="Montserrat"/>
              </a:rPr>
            </a:br>
            <a:r>
              <a:rPr i="1" lang="ru">
                <a:solidFill>
                  <a:srgbClr val="CC0000"/>
                </a:solidFill>
                <a:latin typeface="Montserrat"/>
                <a:ea typeface="Montserrat"/>
                <a:cs typeface="Montserrat"/>
                <a:sym typeface="Montserrat"/>
              </a:rPr>
              <a:t>Удалите ненужные элементы со слайда.</a:t>
            </a:r>
            <a:endParaRPr>
              <a:solidFill>
                <a:srgbClr val="CC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c2d02d8251_1_1"/>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3c2d02d8251_1_1"/>
          <p:cNvSpPr txBox="1"/>
          <p:nvPr/>
        </p:nvSpPr>
        <p:spPr>
          <a:xfrm>
            <a:off x="331280" y="28632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lang="ru" sz="2800">
                <a:solidFill>
                  <a:schemeClr val="lt1"/>
                </a:solidFill>
                <a:latin typeface="Montserrat"/>
                <a:ea typeface="Montserrat"/>
                <a:cs typeface="Montserrat"/>
                <a:sym typeface="Montserrat"/>
              </a:rPr>
              <a:t>Выводы по исследованию</a:t>
            </a:r>
            <a:endParaRPr b="1" i="0" sz="2800" u="none" cap="none" strike="noStrike">
              <a:solidFill>
                <a:schemeClr val="lt1"/>
              </a:solidFill>
              <a:latin typeface="Montserrat"/>
              <a:ea typeface="Montserrat"/>
              <a:cs typeface="Montserrat"/>
              <a:sym typeface="Montserrat"/>
            </a:endParaRPr>
          </a:p>
        </p:txBody>
      </p:sp>
      <p:pic>
        <p:nvPicPr>
          <p:cNvPr id="170" name="Google Shape;170;g3c2d02d8251_1_1"/>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
        <p:nvSpPr>
          <p:cNvPr id="171" name="Google Shape;171;g3c2d02d8251_1_1"/>
          <p:cNvSpPr txBox="1"/>
          <p:nvPr/>
        </p:nvSpPr>
        <p:spPr>
          <a:xfrm>
            <a:off x="372725" y="2911500"/>
            <a:ext cx="7858200" cy="130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1000"/>
              </a:spcAft>
              <a:buClr>
                <a:schemeClr val="dk1"/>
              </a:buClr>
              <a:buSzPts val="1800"/>
              <a:buFont typeface="Arial"/>
              <a:buNone/>
            </a:pPr>
            <a:r>
              <a:rPr i="1" lang="ru">
                <a:solidFill>
                  <a:srgbClr val="CC0000"/>
                </a:solidFill>
                <a:highlight>
                  <a:schemeClr val="lt1"/>
                </a:highlight>
                <a:latin typeface="Montserrat"/>
                <a:ea typeface="Montserrat"/>
                <a:cs typeface="Montserrat"/>
                <a:sym typeface="Montserrat"/>
              </a:rPr>
              <a:t>Приведите выводы по результатам исследования, которые опровергают или подтверждают вашу гипотезу.</a:t>
            </a:r>
            <a:endParaRPr i="1">
              <a:solidFill>
                <a:srgbClr val="CC0000"/>
              </a:solidFill>
              <a:highlight>
                <a:schemeClr val="lt1"/>
              </a:highlight>
              <a:latin typeface="Montserrat"/>
              <a:ea typeface="Montserrat"/>
              <a:cs typeface="Montserrat"/>
              <a:sym typeface="Montserrat"/>
            </a:endParaRPr>
          </a:p>
        </p:txBody>
      </p:sp>
      <p:sp>
        <p:nvSpPr>
          <p:cNvPr id="172" name="Google Shape;172;g3c2d02d8251_1_1"/>
          <p:cNvSpPr txBox="1"/>
          <p:nvPr/>
        </p:nvSpPr>
        <p:spPr>
          <a:xfrm>
            <a:off x="331275" y="926525"/>
            <a:ext cx="8247900" cy="153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Текст гипотезы (повтор)</a:t>
            </a:r>
            <a:endParaRPr sz="18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Гипотеза подтверждена/опровергнута</a:t>
            </a:r>
            <a:endParaRPr sz="1800">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Выводы:</a:t>
            </a:r>
            <a:endParaRPr sz="1800">
              <a:solidFill>
                <a:schemeClr val="lt1"/>
              </a:solidFill>
              <a:latin typeface="Montserrat"/>
              <a:ea typeface="Montserrat"/>
              <a:cs typeface="Montserrat"/>
              <a:sym typeface="Montserrat"/>
            </a:endParaRPr>
          </a:p>
          <a:p>
            <a:pPr indent="-342900" lvl="0" marL="457200" marR="0" rtl="0" algn="l">
              <a:lnSpc>
                <a:spcPct val="115000"/>
              </a:lnSpc>
              <a:spcBef>
                <a:spcPts val="0"/>
              </a:spcBef>
              <a:spcAft>
                <a:spcPts val="0"/>
              </a:spcAft>
              <a:buClr>
                <a:schemeClr val="lt1"/>
              </a:buClr>
              <a:buSzPts val="1800"/>
              <a:buFont typeface="Montserrat"/>
              <a:buChar char="●"/>
            </a:pPr>
            <a:r>
              <a:rPr lang="ru" sz="1800">
                <a:solidFill>
                  <a:schemeClr val="lt1"/>
                </a:solidFill>
                <a:latin typeface="Montserrat"/>
                <a:ea typeface="Montserrat"/>
                <a:cs typeface="Montserrat"/>
                <a:sym typeface="Montserrat"/>
              </a:rPr>
              <a:t>…</a:t>
            </a:r>
            <a:endParaRPr sz="1800">
              <a:solidFill>
                <a:schemeClr val="lt1"/>
              </a:solidFill>
              <a:latin typeface="Montserrat"/>
              <a:ea typeface="Montserrat"/>
              <a:cs typeface="Montserrat"/>
              <a:sym typeface="Montserrat"/>
            </a:endParaRPr>
          </a:p>
          <a:p>
            <a:pPr indent="-342900" lvl="0" marL="457200" marR="0" rtl="0" algn="l">
              <a:lnSpc>
                <a:spcPct val="115000"/>
              </a:lnSpc>
              <a:spcBef>
                <a:spcPts val="0"/>
              </a:spcBef>
              <a:spcAft>
                <a:spcPts val="0"/>
              </a:spcAft>
              <a:buClr>
                <a:schemeClr val="lt1"/>
              </a:buClr>
              <a:buSzPts val="1800"/>
              <a:buFont typeface="Montserrat"/>
              <a:buChar char="●"/>
            </a:pPr>
            <a:r>
              <a:rPr lang="ru" sz="1800">
                <a:solidFill>
                  <a:schemeClr val="lt1"/>
                </a:solidFill>
                <a:latin typeface="Montserrat"/>
                <a:ea typeface="Montserrat"/>
                <a:cs typeface="Montserrat"/>
                <a:sym typeface="Montserrat"/>
              </a:rPr>
              <a:t>…</a:t>
            </a:r>
            <a:endParaRPr sz="1800">
              <a:solidFill>
                <a:schemeClr val="lt1"/>
              </a:solidFill>
              <a:latin typeface="Montserrat"/>
              <a:ea typeface="Montserrat"/>
              <a:cs typeface="Montserrat"/>
              <a:sym typeface="Montserrat"/>
            </a:endParaRPr>
          </a:p>
        </p:txBody>
      </p:sp>
      <p:sp>
        <p:nvSpPr>
          <p:cNvPr id="173" name="Google Shape;173;g3c2d02d8251_1_1"/>
          <p:cNvSpPr txBox="1"/>
          <p:nvPr/>
        </p:nvSpPr>
        <p:spPr>
          <a:xfrm>
            <a:off x="394375" y="439445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chemeClr val="lt1"/>
                </a:solidFill>
                <a:latin typeface="Montserrat"/>
                <a:ea typeface="Montserrat"/>
                <a:cs typeface="Montserrat"/>
                <a:sym typeface="Montserrat"/>
              </a:rPr>
              <a:t>Ссылка на </a:t>
            </a:r>
            <a:r>
              <a:rPr lang="ru" sz="1600" u="sng">
                <a:solidFill>
                  <a:schemeClr val="lt1"/>
                </a:solidFill>
                <a:latin typeface="Montserrat"/>
                <a:ea typeface="Montserrat"/>
                <a:cs typeface="Montserrat"/>
                <a:sym typeface="Montserrat"/>
              </a:rPr>
              <a:t>параграф в структуре ВКР</a:t>
            </a:r>
            <a:endParaRPr b="0" i="0" sz="1600" u="sng" cap="none" strike="noStrike">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g3c2559ca67e_0_364"/>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79" name="Google Shape;179;g3c2559ca67e_0_364"/>
          <p:cNvSpPr txBox="1"/>
          <p:nvPr/>
        </p:nvSpPr>
        <p:spPr>
          <a:xfrm>
            <a:off x="343325" y="284975"/>
            <a:ext cx="83136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Перспективы и рекомендации</a:t>
            </a:r>
            <a:endParaRPr b="1" i="0" sz="2800" u="none" cap="none" strike="noStrike">
              <a:solidFill>
                <a:srgbClr val="123194"/>
              </a:solidFill>
              <a:latin typeface="Montserrat"/>
              <a:ea typeface="Montserrat"/>
              <a:cs typeface="Montserrat"/>
              <a:sym typeface="Montserrat"/>
            </a:endParaRPr>
          </a:p>
        </p:txBody>
      </p:sp>
      <p:sp>
        <p:nvSpPr>
          <p:cNvPr id="180" name="Google Shape;180;g3c2559ca67e_0_364"/>
          <p:cNvSpPr txBox="1"/>
          <p:nvPr/>
        </p:nvSpPr>
        <p:spPr>
          <a:xfrm>
            <a:off x="372725" y="1018750"/>
            <a:ext cx="7572600" cy="134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ru" sz="1800">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текст</a:t>
            </a:r>
            <a:endParaRPr sz="1800">
              <a:latin typeface="Montserrat"/>
              <a:ea typeface="Montserrat"/>
              <a:cs typeface="Montserrat"/>
              <a:sym typeface="Montserrat"/>
            </a:endParaRPr>
          </a:p>
        </p:txBody>
      </p:sp>
      <p:sp>
        <p:nvSpPr>
          <p:cNvPr id="181" name="Google Shape;181;g3c2559ca67e_0_364"/>
          <p:cNvSpPr txBox="1"/>
          <p:nvPr/>
        </p:nvSpPr>
        <p:spPr>
          <a:xfrm>
            <a:off x="343325" y="2606824"/>
            <a:ext cx="8167800" cy="147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2000"/>
              <a:buFont typeface="Arial"/>
              <a:buNone/>
            </a:pPr>
            <a:r>
              <a:rPr i="1" lang="ru">
                <a:solidFill>
                  <a:srgbClr val="CC0000"/>
                </a:solidFill>
                <a:latin typeface="Montserrat"/>
                <a:ea typeface="Montserrat"/>
                <a:cs typeface="Montserrat"/>
                <a:sym typeface="Montserrat"/>
              </a:rPr>
              <a:t>Здесь вы оставляете рекомендации по использованию результатов исследования для других исследователей и/или определенном поле.</a:t>
            </a:r>
            <a:endParaRPr i="1">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rPr i="1" lang="ru">
                <a:solidFill>
                  <a:srgbClr val="CC0000"/>
                </a:solidFill>
                <a:latin typeface="Montserrat"/>
                <a:ea typeface="Montserrat"/>
                <a:cs typeface="Montserrat"/>
                <a:sym typeface="Montserrat"/>
              </a:rPr>
              <a:t>Перспективы вытекают из результатов по проверке гипотезы и связаны с ней.</a:t>
            </a:r>
            <a:endParaRPr i="1">
              <a:solidFill>
                <a:srgbClr val="CC0000"/>
              </a:solidFill>
              <a:latin typeface="Montserrat"/>
              <a:ea typeface="Montserrat"/>
              <a:cs typeface="Montserrat"/>
              <a:sym typeface="Montserrat"/>
            </a:endParaRPr>
          </a:p>
        </p:txBody>
      </p:sp>
      <p:sp>
        <p:nvSpPr>
          <p:cNvPr id="182" name="Google Shape;182;g3c2559ca67e_0_364"/>
          <p:cNvSpPr txBox="1"/>
          <p:nvPr/>
        </p:nvSpPr>
        <p:spPr>
          <a:xfrm>
            <a:off x="455575" y="4080575"/>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lang="ru" sz="1600" u="sng">
                <a:solidFill>
                  <a:srgbClr val="123194"/>
                </a:solidFill>
                <a:latin typeface="Montserrat"/>
                <a:ea typeface="Montserrat"/>
                <a:cs typeface="Montserrat"/>
                <a:sym typeface="Montserrat"/>
              </a:rPr>
              <a:t>Ссылка на раздел в ВКР</a:t>
            </a:r>
            <a:endParaRPr sz="1600" u="sng">
              <a:solidFill>
                <a:srgbClr val="123194"/>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9"/>
          <p:cNvSpPr txBox="1"/>
          <p:nvPr/>
        </p:nvSpPr>
        <p:spPr>
          <a:xfrm>
            <a:off x="279600" y="2835497"/>
            <a:ext cx="8167800" cy="168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1" lang="ru" u="none" cap="none" strike="noStrike">
                <a:solidFill>
                  <a:srgbClr val="CC0000"/>
                </a:solidFill>
                <a:latin typeface="Montserrat"/>
                <a:ea typeface="Montserrat"/>
                <a:cs typeface="Montserrat"/>
                <a:sym typeface="Montserrat"/>
              </a:rPr>
              <a:t>Если реализация вашего исследования в семестре предполагала и другие задачи, выходящие за рамки описанной методологии, опишите их.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000"/>
              </a:spcBef>
              <a:spcAft>
                <a:spcPts val="0"/>
              </a:spcAft>
              <a:buNone/>
            </a:pPr>
            <a:r>
              <a:rPr b="0" i="1" lang="ru" u="none" cap="none" strike="noStrike">
                <a:solidFill>
                  <a:srgbClr val="CC0000"/>
                </a:solidFill>
                <a:latin typeface="Montserrat"/>
                <a:ea typeface="Montserrat"/>
                <a:cs typeface="Montserrat"/>
                <a:sym typeface="Montserrat"/>
              </a:rPr>
              <a:t>Опишите каждую задачу </a:t>
            </a:r>
            <a:r>
              <a:rPr i="1" lang="ru">
                <a:solidFill>
                  <a:srgbClr val="CC0000"/>
                </a:solidFill>
                <a:latin typeface="Montserrat"/>
                <a:ea typeface="Montserrat"/>
                <a:cs typeface="Montserrat"/>
                <a:sym typeface="Montserrat"/>
              </a:rPr>
              <a:t>4 </a:t>
            </a:r>
            <a:r>
              <a:rPr b="0" i="1" lang="ru" u="none" cap="none" strike="noStrike">
                <a:solidFill>
                  <a:srgbClr val="CC0000"/>
                </a:solidFill>
                <a:latin typeface="Montserrat"/>
                <a:ea typeface="Montserrat"/>
                <a:cs typeface="Montserrat"/>
                <a:sym typeface="Montserrat"/>
              </a:rPr>
              <a:t>семестра, которая остались за рамками исследовательской части. Емко укажите, что вы сделали и для чего, каков результат. Приложите ссылку на каждый результат, убедитесь, что файлы открыты для изучения.</a:t>
            </a:r>
            <a:endParaRPr b="0" i="1" sz="1600" u="none" cap="none" strike="noStrike">
              <a:solidFill>
                <a:srgbClr val="CC0000"/>
              </a:solidFill>
              <a:latin typeface="Montserrat"/>
              <a:ea typeface="Montserrat"/>
              <a:cs typeface="Montserrat"/>
              <a:sym typeface="Montserrat"/>
            </a:endParaRPr>
          </a:p>
        </p:txBody>
      </p:sp>
      <p:pic>
        <p:nvPicPr>
          <p:cNvPr id="188" name="Google Shape;188;p9"/>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89" name="Google Shape;189;p9"/>
          <p:cNvSpPr txBox="1"/>
          <p:nvPr/>
        </p:nvSpPr>
        <p:spPr>
          <a:xfrm>
            <a:off x="368558" y="2820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a:t>
            </a:r>
            <a:r>
              <a:rPr b="1" i="0" lang="ru" sz="2800" u="none" cap="none" strike="noStrike">
                <a:solidFill>
                  <a:srgbClr val="123194"/>
                </a:solidFill>
                <a:latin typeface="Montserrat"/>
                <a:ea typeface="Montserrat"/>
                <a:cs typeface="Montserrat"/>
                <a:sym typeface="Montserrat"/>
              </a:rPr>
              <a:t>Другие решенные задачи </a:t>
            </a:r>
            <a:r>
              <a:rPr b="1" lang="ru" sz="2800">
                <a:solidFill>
                  <a:srgbClr val="123194"/>
                </a:solidFill>
                <a:latin typeface="Montserrat"/>
                <a:ea typeface="Montserrat"/>
                <a:cs typeface="Montserrat"/>
                <a:sym typeface="Montserrat"/>
              </a:rPr>
              <a:t>4</a:t>
            </a:r>
            <a:r>
              <a:rPr b="1" i="0" lang="ru" sz="2800" u="none" cap="none" strike="noStrike">
                <a:solidFill>
                  <a:srgbClr val="123194"/>
                </a:solidFill>
                <a:latin typeface="Montserrat"/>
                <a:ea typeface="Montserrat"/>
                <a:cs typeface="Montserrat"/>
                <a:sym typeface="Montserrat"/>
              </a:rPr>
              <a:t> семестра</a:t>
            </a:r>
            <a:endParaRPr b="1" i="0" sz="2800" u="none" cap="none" strike="noStrike">
              <a:solidFill>
                <a:srgbClr val="123194"/>
              </a:solidFill>
              <a:latin typeface="Montserrat"/>
              <a:ea typeface="Montserrat"/>
              <a:cs typeface="Montserrat"/>
              <a:sym typeface="Montserrat"/>
            </a:endParaRPr>
          </a:p>
        </p:txBody>
      </p:sp>
      <p:sp>
        <p:nvSpPr>
          <p:cNvPr id="190" name="Google Shape;190;p9"/>
          <p:cNvSpPr txBox="1"/>
          <p:nvPr/>
        </p:nvSpPr>
        <p:spPr>
          <a:xfrm>
            <a:off x="355800" y="976500"/>
            <a:ext cx="8247900" cy="16896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1800"/>
              </a:spcBef>
              <a:spcAft>
                <a:spcPts val="0"/>
              </a:spcAft>
              <a:buClr>
                <a:srgbClr val="000000"/>
              </a:buClr>
              <a:buSzPts val="2000"/>
              <a:buFont typeface="Montserrat"/>
              <a:buAutoNum type="arabicPeriod"/>
            </a:pPr>
            <a:r>
              <a:rPr lang="ru" sz="1800">
                <a:latin typeface="Montserrat"/>
                <a:ea typeface="Montserrat"/>
                <a:cs typeface="Montserrat"/>
                <a:sym typeface="Montserrat"/>
              </a:rPr>
              <a:t>Кратко задача</a:t>
            </a:r>
            <a:endParaRPr sz="1800">
              <a:latin typeface="Montserrat"/>
              <a:ea typeface="Montserrat"/>
              <a:cs typeface="Montserrat"/>
              <a:sym typeface="Montserrat"/>
            </a:endParaRPr>
          </a:p>
          <a:p>
            <a:pPr indent="-342900" lvl="0" marL="457200" marR="0" rtl="0" algn="l">
              <a:lnSpc>
                <a:spcPct val="115000"/>
              </a:lnSpc>
              <a:spcBef>
                <a:spcPts val="1000"/>
              </a:spcBef>
              <a:spcAft>
                <a:spcPts val="0"/>
              </a:spcAft>
              <a:buSzPts val="1800"/>
              <a:buFont typeface="Montserrat"/>
              <a:buAutoNum type="arabicPeriod"/>
            </a:pPr>
            <a:r>
              <a:rPr lang="ru" sz="1800">
                <a:latin typeface="Montserrat"/>
                <a:ea typeface="Montserrat"/>
                <a:cs typeface="Montserrat"/>
                <a:sym typeface="Montserrat"/>
              </a:rPr>
              <a:t>Кратко задача</a:t>
            </a:r>
            <a:endParaRPr sz="1800">
              <a:latin typeface="Montserrat"/>
              <a:ea typeface="Montserrat"/>
              <a:cs typeface="Montserrat"/>
              <a:sym typeface="Montserrat"/>
            </a:endParaRPr>
          </a:p>
          <a:p>
            <a:pPr indent="-342900" lvl="0" marL="457200" marR="0" rtl="0" algn="l">
              <a:lnSpc>
                <a:spcPct val="115000"/>
              </a:lnSpc>
              <a:spcBef>
                <a:spcPts val="1000"/>
              </a:spcBef>
              <a:spcAft>
                <a:spcPts val="0"/>
              </a:spcAft>
              <a:buSzPts val="1800"/>
              <a:buFont typeface="Montserrat"/>
              <a:buAutoNum type="arabicPeriod"/>
            </a:pPr>
            <a:r>
              <a:rPr lang="ru" sz="1800">
                <a:latin typeface="Montserrat"/>
                <a:ea typeface="Montserrat"/>
                <a:cs typeface="Montserrat"/>
                <a:sym typeface="Montserrat"/>
              </a:rPr>
              <a:t>Кратко задача </a:t>
            </a:r>
            <a:endParaRPr sz="1800">
              <a:latin typeface="Montserrat"/>
              <a:ea typeface="Montserrat"/>
              <a:cs typeface="Montserrat"/>
              <a:sym typeface="Montserrat"/>
            </a:endParaRPr>
          </a:p>
          <a:p>
            <a:pPr indent="-342900" lvl="0" marL="457200" marR="0" rtl="0" algn="l">
              <a:lnSpc>
                <a:spcPct val="115000"/>
              </a:lnSpc>
              <a:spcBef>
                <a:spcPts val="1800"/>
              </a:spcBef>
              <a:spcAft>
                <a:spcPts val="1000"/>
              </a:spcAft>
              <a:buSzPts val="1800"/>
              <a:buFont typeface="Montserrat"/>
              <a:buAutoNum type="arabicPeriod"/>
            </a:pPr>
            <a:r>
              <a:rPr lang="ru" sz="1800">
                <a:latin typeface="Montserrat"/>
                <a:ea typeface="Montserrat"/>
                <a:cs typeface="Montserrat"/>
                <a:sym typeface="Montserrat"/>
              </a:rPr>
              <a:t>…</a:t>
            </a:r>
            <a:endParaRPr sz="1800">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g3c2559ca67e_0_236"/>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96" name="Google Shape;196;g3c2559ca67e_0_236"/>
          <p:cNvSpPr txBox="1"/>
          <p:nvPr/>
        </p:nvSpPr>
        <p:spPr>
          <a:xfrm>
            <a:off x="343325" y="284975"/>
            <a:ext cx="83136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Мое исследование в научном поле</a:t>
            </a:r>
            <a:endParaRPr b="1" i="0" sz="2800" u="none" cap="none" strike="noStrike">
              <a:solidFill>
                <a:srgbClr val="123194"/>
              </a:solidFill>
              <a:latin typeface="Montserrat"/>
              <a:ea typeface="Montserrat"/>
              <a:cs typeface="Montserrat"/>
              <a:sym typeface="Montserrat"/>
            </a:endParaRPr>
          </a:p>
        </p:txBody>
      </p:sp>
      <p:sp>
        <p:nvSpPr>
          <p:cNvPr id="197" name="Google Shape;197;g3c2559ca67e_0_236"/>
          <p:cNvSpPr txBox="1"/>
          <p:nvPr/>
        </p:nvSpPr>
        <p:spPr>
          <a:xfrm>
            <a:off x="372725" y="1018750"/>
            <a:ext cx="7572600" cy="1346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lang="ru" sz="1800">
                <a:latin typeface="Montserrat"/>
                <a:ea typeface="Montserrat"/>
                <a:cs typeface="Montserrat"/>
                <a:sym typeface="Montserrat"/>
              </a:rPr>
              <a:t>Конференция: </a:t>
            </a:r>
            <a:r>
              <a:rPr i="1" lang="ru" sz="1800">
                <a:latin typeface="Montserrat"/>
                <a:ea typeface="Montserrat"/>
                <a:cs typeface="Montserrat"/>
                <a:sym typeface="Montserrat"/>
              </a:rPr>
              <a:t>название, организатор (дата) </a:t>
            </a:r>
            <a:endParaRPr i="1" sz="1800">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lang="ru" sz="1800">
                <a:latin typeface="Montserrat"/>
                <a:ea typeface="Montserrat"/>
                <a:cs typeface="Montserrat"/>
                <a:sym typeface="Montserrat"/>
              </a:rPr>
              <a:t>Тема доклада: </a:t>
            </a:r>
            <a:r>
              <a:rPr i="1" lang="ru" sz="1800">
                <a:latin typeface="Montserrat"/>
                <a:ea typeface="Montserrat"/>
                <a:cs typeface="Montserrat"/>
                <a:sym typeface="Montserrat"/>
              </a:rPr>
              <a:t>название</a:t>
            </a:r>
            <a:endParaRPr i="1" sz="1800">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lang="ru" sz="1800">
                <a:latin typeface="Montserrat"/>
                <a:ea typeface="Montserrat"/>
                <a:cs typeface="Montserrat"/>
                <a:sym typeface="Montserrat"/>
              </a:rPr>
              <a:t>Публикация: </a:t>
            </a:r>
            <a:r>
              <a:rPr i="1" lang="ru" sz="1800">
                <a:latin typeface="Montserrat"/>
                <a:ea typeface="Montserrat"/>
                <a:cs typeface="Montserrat"/>
                <a:sym typeface="Montserrat"/>
              </a:rPr>
              <a:t>формат публикации, название</a:t>
            </a:r>
            <a:endParaRPr i="1" sz="1800">
              <a:latin typeface="Montserrat"/>
              <a:ea typeface="Montserrat"/>
              <a:cs typeface="Montserrat"/>
              <a:sym typeface="Montserrat"/>
            </a:endParaRPr>
          </a:p>
        </p:txBody>
      </p:sp>
      <p:sp>
        <p:nvSpPr>
          <p:cNvPr id="198" name="Google Shape;198;g3c2559ca67e_0_236"/>
          <p:cNvSpPr txBox="1"/>
          <p:nvPr/>
        </p:nvSpPr>
        <p:spPr>
          <a:xfrm>
            <a:off x="369925" y="2562100"/>
            <a:ext cx="8167800" cy="1644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2000"/>
              <a:buFont typeface="Arial"/>
              <a:buNone/>
            </a:pPr>
            <a:r>
              <a:rPr i="1" lang="ru">
                <a:solidFill>
                  <a:srgbClr val="CC0000"/>
                </a:solidFill>
                <a:latin typeface="Montserrat"/>
                <a:ea typeface="Montserrat"/>
                <a:cs typeface="Montserrat"/>
                <a:sym typeface="Montserrat"/>
              </a:rPr>
              <a:t>На этом слайде дайте информацию о том, где и когда ваше исследование было представлено на конференции и/или в публикации. </a:t>
            </a:r>
            <a:endParaRPr i="1">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rPr i="1" lang="ru">
                <a:solidFill>
                  <a:srgbClr val="CC0000"/>
                </a:solidFill>
                <a:latin typeface="Montserrat"/>
                <a:ea typeface="Montserrat"/>
                <a:cs typeface="Montserrat"/>
                <a:sym typeface="Montserrat"/>
              </a:rPr>
              <a:t>Крайний срок выступления — до первой недели июня 2026. </a:t>
            </a:r>
            <a:endParaRPr i="1">
              <a:solidFill>
                <a:srgbClr val="CC0000"/>
              </a:solidFill>
              <a:latin typeface="Montserrat"/>
              <a:ea typeface="Montserrat"/>
              <a:cs typeface="Montserrat"/>
              <a:sym typeface="Montserrat"/>
            </a:endParaRPr>
          </a:p>
        </p:txBody>
      </p:sp>
      <p:sp>
        <p:nvSpPr>
          <p:cNvPr id="199" name="Google Shape;199;g3c2559ca67e_0_236"/>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сайт конференции и/или публикацию</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*Дополнительное освещение исследования</a:t>
            </a:r>
            <a:endParaRPr b="1" i="0" sz="2800" u="none" cap="none" strike="noStrike">
              <a:solidFill>
                <a:srgbClr val="123194"/>
              </a:solidFill>
              <a:latin typeface="Montserrat"/>
              <a:ea typeface="Montserrat"/>
              <a:cs typeface="Montserrat"/>
              <a:sym typeface="Montserrat"/>
            </a:endParaRPr>
          </a:p>
        </p:txBody>
      </p:sp>
      <p:sp>
        <p:nvSpPr>
          <p:cNvPr id="205" name="Google Shape;205;p15"/>
          <p:cNvSpPr txBox="1"/>
          <p:nvPr/>
        </p:nvSpPr>
        <p:spPr>
          <a:xfrm>
            <a:off x="369925" y="1338275"/>
            <a:ext cx="8167800" cy="2868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Если в рамках исследования вы регистрировали РИД (ПО, полезную модель, патент, депонировали объекты ИС и т. д.), участие в лабораториях, конкурсах и грантах</a:t>
            </a:r>
            <a:r>
              <a:rPr i="1" lang="ru">
                <a:solidFill>
                  <a:srgbClr val="CC0000"/>
                </a:solidFill>
                <a:latin typeface="Montserrat"/>
                <a:ea typeface="Montserrat"/>
                <a:cs typeface="Montserrat"/>
                <a:sym typeface="Montserrat"/>
              </a:rPr>
              <a:t>,</a:t>
            </a:r>
            <a:r>
              <a:rPr b="0" i="1" lang="ru" u="none" cap="none" strike="noStrike">
                <a:solidFill>
                  <a:srgbClr val="CC0000"/>
                </a:solidFill>
                <a:latin typeface="Montserrat"/>
                <a:ea typeface="Montserrat"/>
                <a:cs typeface="Montserrat"/>
                <a:sym typeface="Montserrat"/>
              </a:rPr>
              <a:t> укажите эту информацию.</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1" lang="ru" u="none" cap="none" strike="noStrike">
                <a:solidFill>
                  <a:srgbClr val="CC0000"/>
                </a:solidFill>
                <a:latin typeface="Montserrat"/>
                <a:ea typeface="Montserrat"/>
                <a:cs typeface="Montserrat"/>
                <a:sym typeface="Montserrat"/>
              </a:rPr>
              <a:t>Если ваше решение прикладное и внедрено в эксплуатацию, укажите информацию о том, кем и где. </a:t>
            </a:r>
            <a:endParaRPr b="0" i="1" u="none" cap="none" strike="noStrike">
              <a:solidFill>
                <a:srgbClr val="CC0000"/>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1800"/>
              <a:buFont typeface="Arial"/>
              <a:buNone/>
            </a:pPr>
            <a:r>
              <a:t/>
            </a:r>
            <a:endParaRPr b="0" i="1" sz="1600" u="none" cap="none" strike="noStrike">
              <a:solidFill>
                <a:srgbClr val="CC0000"/>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c2559ca67e_0_293"/>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3c2559ca67e_0_293"/>
          <p:cNvSpPr txBox="1"/>
          <p:nvPr/>
        </p:nvSpPr>
        <p:spPr>
          <a:xfrm>
            <a:off x="340866"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Список источников</a:t>
            </a:r>
            <a:endParaRPr b="1" i="0" sz="2800" u="none" cap="none" strike="noStrike">
              <a:solidFill>
                <a:schemeClr val="lt1"/>
              </a:solidFill>
              <a:latin typeface="Montserrat"/>
              <a:ea typeface="Montserrat"/>
              <a:cs typeface="Montserrat"/>
              <a:sym typeface="Montserrat"/>
            </a:endParaRPr>
          </a:p>
        </p:txBody>
      </p:sp>
      <p:sp>
        <p:nvSpPr>
          <p:cNvPr id="212" name="Google Shape;212;g3c2559ca67e_0_293"/>
          <p:cNvSpPr txBox="1"/>
          <p:nvPr/>
        </p:nvSpPr>
        <p:spPr>
          <a:xfrm>
            <a:off x="364800" y="1073700"/>
            <a:ext cx="8167800" cy="34194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 </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0" lvl="0" marL="0" marR="0" rtl="0" algn="l">
              <a:lnSpc>
                <a:spcPct val="115000"/>
              </a:lnSpc>
              <a:spcBef>
                <a:spcPts val="700"/>
              </a:spcBef>
              <a:spcAft>
                <a:spcPts val="0"/>
              </a:spcAft>
              <a:buClr>
                <a:srgbClr val="000000"/>
              </a:buClr>
              <a:buSzPts val="1400"/>
              <a:buFont typeface="Arial"/>
              <a:buNone/>
            </a:pPr>
            <a:r>
              <a:t/>
            </a:r>
            <a:endParaRPr b="0" i="0" sz="1400" u="none" cap="none" strike="noStrike">
              <a:solidFill>
                <a:schemeClr val="lt1"/>
              </a:solidFill>
              <a:latin typeface="Montserrat"/>
              <a:ea typeface="Montserrat"/>
              <a:cs typeface="Montserrat"/>
              <a:sym typeface="Montserrat"/>
            </a:endParaRPr>
          </a:p>
        </p:txBody>
      </p:sp>
      <p:pic>
        <p:nvPicPr>
          <p:cNvPr id="213" name="Google Shape;213;g3c2559ca67e_0_293"/>
          <p:cNvPicPr preferRelativeResize="0"/>
          <p:nvPr/>
        </p:nvPicPr>
        <p:blipFill rotWithShape="1">
          <a:blip r:embed="rId3">
            <a:alphaModFix/>
          </a:blip>
          <a:srcRect b="0" l="0" r="0" t="0"/>
          <a:stretch/>
        </p:blipFill>
        <p:spPr>
          <a:xfrm>
            <a:off x="7287924" y="3261900"/>
            <a:ext cx="1456125" cy="1773050"/>
          </a:xfrm>
          <a:prstGeom prst="rect">
            <a:avLst/>
          </a:prstGeom>
          <a:noFill/>
          <a:ln>
            <a:noFill/>
          </a:ln>
        </p:spPr>
      </p:pic>
      <p:sp>
        <p:nvSpPr>
          <p:cNvPr id="214" name="Google Shape;214;g3c2559ca67e_0_293"/>
          <p:cNvSpPr txBox="1"/>
          <p:nvPr/>
        </p:nvSpPr>
        <p:spPr>
          <a:xfrm>
            <a:off x="4633175" y="169975"/>
            <a:ext cx="42336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1" lang="ru" u="none" cap="none" strike="noStrike">
                <a:solidFill>
                  <a:srgbClr val="CC0000"/>
                </a:solidFill>
                <a:highlight>
                  <a:schemeClr val="lt1"/>
                </a:highlight>
                <a:latin typeface="Montserrat"/>
                <a:ea typeface="Montserrat"/>
                <a:cs typeface="Montserrat"/>
                <a:sym typeface="Montserrat"/>
              </a:rPr>
              <a:t>Помните, что для глубокого теоретического анализа в своей профильной части вы должны изучить не менее 30 валидных источников (научных статей, аналитических отчетов и так далее). </a:t>
            </a:r>
            <a:endParaRPr b="0" i="1" u="none" cap="none" strike="noStrike">
              <a:solidFill>
                <a:srgbClr val="CC0000"/>
              </a:solidFill>
              <a:highlight>
                <a:schemeClr val="lt1"/>
              </a:highlight>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c2559ca67e_0_301"/>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3c2559ca67e_0_301"/>
          <p:cNvSpPr txBox="1"/>
          <p:nvPr/>
        </p:nvSpPr>
        <p:spPr>
          <a:xfrm>
            <a:off x="340866"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Список источников</a:t>
            </a:r>
            <a:endParaRPr b="1" i="0" sz="2800" u="none" cap="none" strike="noStrike">
              <a:solidFill>
                <a:schemeClr val="lt1"/>
              </a:solidFill>
              <a:latin typeface="Montserrat"/>
              <a:ea typeface="Montserrat"/>
              <a:cs typeface="Montserrat"/>
              <a:sym typeface="Montserrat"/>
            </a:endParaRPr>
          </a:p>
        </p:txBody>
      </p:sp>
      <p:sp>
        <p:nvSpPr>
          <p:cNvPr id="221" name="Google Shape;221;g3c2559ca67e_0_301"/>
          <p:cNvSpPr txBox="1"/>
          <p:nvPr/>
        </p:nvSpPr>
        <p:spPr>
          <a:xfrm>
            <a:off x="364800" y="1073700"/>
            <a:ext cx="8167800" cy="34194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 </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0" lvl="0" marL="0" marR="0" rtl="0" algn="l">
              <a:lnSpc>
                <a:spcPct val="115000"/>
              </a:lnSpc>
              <a:spcBef>
                <a:spcPts val="700"/>
              </a:spcBef>
              <a:spcAft>
                <a:spcPts val="0"/>
              </a:spcAft>
              <a:buClr>
                <a:srgbClr val="000000"/>
              </a:buClr>
              <a:buSzPts val="1400"/>
              <a:buFont typeface="Arial"/>
              <a:buNone/>
            </a:pPr>
            <a:r>
              <a:t/>
            </a:r>
            <a:endParaRPr b="0" i="0" sz="1400" u="none" cap="none" strike="noStrike">
              <a:solidFill>
                <a:schemeClr val="lt1"/>
              </a:solidFill>
              <a:latin typeface="Montserrat"/>
              <a:ea typeface="Montserrat"/>
              <a:cs typeface="Montserrat"/>
              <a:sym typeface="Montserrat"/>
            </a:endParaRPr>
          </a:p>
        </p:txBody>
      </p:sp>
      <p:pic>
        <p:nvPicPr>
          <p:cNvPr id="222" name="Google Shape;222;g3c2559ca67e_0_301"/>
          <p:cNvPicPr preferRelativeResize="0"/>
          <p:nvPr/>
        </p:nvPicPr>
        <p:blipFill rotWithShape="1">
          <a:blip r:embed="rId3">
            <a:alphaModFix/>
          </a:blip>
          <a:srcRect b="0" l="0" r="0" t="0"/>
          <a:stretch/>
        </p:blipFill>
        <p:spPr>
          <a:xfrm>
            <a:off x="7287924" y="3261900"/>
            <a:ext cx="1456125" cy="1773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c2559ca67e_0_308"/>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3c2559ca67e_0_308"/>
          <p:cNvSpPr txBox="1"/>
          <p:nvPr/>
        </p:nvSpPr>
        <p:spPr>
          <a:xfrm>
            <a:off x="340866"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Список источников</a:t>
            </a:r>
            <a:endParaRPr b="1" i="0" sz="2800" u="none" cap="none" strike="noStrike">
              <a:solidFill>
                <a:schemeClr val="lt1"/>
              </a:solidFill>
              <a:latin typeface="Montserrat"/>
              <a:ea typeface="Montserrat"/>
              <a:cs typeface="Montserrat"/>
              <a:sym typeface="Montserrat"/>
            </a:endParaRPr>
          </a:p>
        </p:txBody>
      </p:sp>
      <p:sp>
        <p:nvSpPr>
          <p:cNvPr id="229" name="Google Shape;229;g3c2559ca67e_0_308"/>
          <p:cNvSpPr txBox="1"/>
          <p:nvPr/>
        </p:nvSpPr>
        <p:spPr>
          <a:xfrm>
            <a:off x="364800" y="1073700"/>
            <a:ext cx="8167800" cy="34194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 </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2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0" lvl="0" marL="0" marR="0" rtl="0" algn="l">
              <a:lnSpc>
                <a:spcPct val="115000"/>
              </a:lnSpc>
              <a:spcBef>
                <a:spcPts val="700"/>
              </a:spcBef>
              <a:spcAft>
                <a:spcPts val="0"/>
              </a:spcAft>
              <a:buClr>
                <a:srgbClr val="000000"/>
              </a:buClr>
              <a:buSzPts val="1400"/>
              <a:buFont typeface="Arial"/>
              <a:buNone/>
            </a:pPr>
            <a:r>
              <a:t/>
            </a:r>
            <a:endParaRPr b="0" i="0" sz="1400" u="none" cap="none" strike="noStrike">
              <a:solidFill>
                <a:schemeClr val="lt1"/>
              </a:solidFill>
              <a:latin typeface="Montserrat"/>
              <a:ea typeface="Montserrat"/>
              <a:cs typeface="Montserrat"/>
              <a:sym typeface="Montserrat"/>
            </a:endParaRPr>
          </a:p>
        </p:txBody>
      </p:sp>
      <p:pic>
        <p:nvPicPr>
          <p:cNvPr id="230" name="Google Shape;230;g3c2559ca67e_0_308"/>
          <p:cNvPicPr preferRelativeResize="0"/>
          <p:nvPr/>
        </p:nvPicPr>
        <p:blipFill rotWithShape="1">
          <a:blip r:embed="rId3">
            <a:alphaModFix/>
          </a:blip>
          <a:srcRect b="0" l="0" r="0" t="0"/>
          <a:stretch/>
        </p:blipFill>
        <p:spPr>
          <a:xfrm>
            <a:off x="7287924" y="3261900"/>
            <a:ext cx="1456125" cy="1773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8"/>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6" name="Google Shape;236;p18"/>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pic>
        <p:nvPicPr>
          <p:cNvPr id="237" name="Google Shape;237;p18"/>
          <p:cNvPicPr preferRelativeResize="0"/>
          <p:nvPr/>
        </p:nvPicPr>
        <p:blipFill rotWithShape="1">
          <a:blip r:embed="rId4">
            <a:alphaModFix/>
          </a:blip>
          <a:srcRect b="36008" l="0" r="47182" t="0"/>
          <a:stretch/>
        </p:blipFill>
        <p:spPr>
          <a:xfrm>
            <a:off x="4780175" y="233375"/>
            <a:ext cx="4183099" cy="4787126"/>
          </a:xfrm>
          <a:prstGeom prst="rect">
            <a:avLst/>
          </a:prstGeom>
          <a:noFill/>
          <a:ln>
            <a:noFill/>
          </a:ln>
        </p:spPr>
      </p:pic>
      <p:sp>
        <p:nvSpPr>
          <p:cNvPr id="238" name="Google Shape;238;p18"/>
          <p:cNvSpPr txBox="1"/>
          <p:nvPr/>
        </p:nvSpPr>
        <p:spPr>
          <a:xfrm>
            <a:off x="315779" y="380733"/>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Спасибо</a:t>
            </a:r>
            <a:endParaRPr b="1" i="0" sz="5700" u="none" cap="none" strike="noStrike">
              <a:solidFill>
                <a:schemeClr val="lt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за внимание!</a:t>
            </a:r>
            <a:endParaRPr b="1" i="0" sz="57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9"/>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9"/>
          <p:cNvSpPr txBox="1"/>
          <p:nvPr/>
        </p:nvSpPr>
        <p:spPr>
          <a:xfrm>
            <a:off x="826349" y="985035"/>
            <a:ext cx="7347300" cy="1147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Дополнительные слайды для оформления</a:t>
            </a:r>
            <a:endParaRPr b="1" i="0" sz="5700" u="none" cap="none" strike="noStrike">
              <a:solidFill>
                <a:schemeClr val="lt1"/>
              </a:solidFill>
              <a:latin typeface="Montserrat"/>
              <a:ea typeface="Montserrat"/>
              <a:cs typeface="Montserrat"/>
              <a:sym typeface="Montserrat"/>
            </a:endParaRPr>
          </a:p>
        </p:txBody>
      </p:sp>
      <p:pic>
        <p:nvPicPr>
          <p:cNvPr id="245" name="Google Shape;245;p19"/>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51" name="Google Shape;251;p20"/>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52" name="Google Shape;252;p20"/>
          <p:cNvSpPr txBox="1"/>
          <p:nvPr/>
        </p:nvSpPr>
        <p:spPr>
          <a:xfrm>
            <a:off x="372358" y="985577"/>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a:t>
            </a:r>
            <a:r>
              <a:rPr b="1" i="0" lang="ru" sz="1800" u="none" cap="none" strike="noStrike">
                <a:solidFill>
                  <a:schemeClr val="dk1"/>
                </a:solidFill>
                <a:latin typeface="Montserrat"/>
                <a:ea typeface="Montserrat"/>
                <a:cs typeface="Montserrat"/>
                <a:sym typeface="Montserrat"/>
              </a:rPr>
              <a:t>Выделение важного внутри</a:t>
            </a:r>
            <a:r>
              <a:rPr b="0" i="0" lang="ru" sz="1800" u="none" cap="none" strike="noStrike">
                <a:solidFill>
                  <a:schemeClr val="dk1"/>
                </a:solidFill>
                <a:latin typeface="Montserrat"/>
                <a:ea typeface="Montserrat"/>
                <a:cs typeface="Montserrat"/>
                <a:sym typeface="Montserrat"/>
              </a:rPr>
              <a:t> Текст Текст Текст Текст Текст Текст Текст Текст Текст Текст Текст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0" lang="ru" sz="1800" u="sng" cap="none" strike="noStrike">
                <a:solidFill>
                  <a:srgbClr val="123194"/>
                </a:solidFill>
                <a:latin typeface="Montserrat"/>
                <a:ea typeface="Montserrat"/>
                <a:cs typeface="Montserrat"/>
                <a:sym typeface="Montserrat"/>
                <a:hlinkClick r:id="rId4">
                  <a:extLst>
                    <a:ext uri="{A12FA001-AC4F-418D-AE19-62706E023703}">
                      <ahyp:hlinkClr val="tx"/>
                    </a:ext>
                  </a:extLst>
                </a:hlinkClick>
              </a:rPr>
              <a:t>Ссылка на сторонний ресурс</a:t>
            </a:r>
            <a:endParaRPr b="0" i="0" sz="1800" u="sng" cap="none" strike="noStrike">
              <a:solidFill>
                <a:srgbClr val="123194"/>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1"/>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58" name="Google Shape;258;p21"/>
          <p:cNvSpPr/>
          <p:nvPr/>
        </p:nvSpPr>
        <p:spPr>
          <a:xfrm>
            <a:off x="459858" y="1152351"/>
            <a:ext cx="8080500" cy="32877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1"/>
          <p:cNvSpPr txBox="1"/>
          <p:nvPr/>
        </p:nvSpPr>
        <p:spPr>
          <a:xfrm>
            <a:off x="2914972" y="2563223"/>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60" name="Google Shape;260;p21"/>
          <p:cNvSpPr txBox="1"/>
          <p:nvPr/>
        </p:nvSpPr>
        <p:spPr>
          <a:xfrm>
            <a:off x="349656" y="4403884"/>
            <a:ext cx="80805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 Источник: </a:t>
            </a:r>
            <a:r>
              <a:rPr b="0" i="0" lang="ru" sz="1400" u="sng" cap="none" strike="noStrike">
                <a:solidFill>
                  <a:srgbClr val="123194"/>
                </a:solidFill>
                <a:latin typeface="Montserrat"/>
                <a:ea typeface="Montserrat"/>
                <a:cs typeface="Montserrat"/>
                <a:sym typeface="Montserrat"/>
                <a:hlinkClick r:id="rId3">
                  <a:extLst>
                    <a:ext uri="{A12FA001-AC4F-418D-AE19-62706E023703}">
                      <ahyp:hlinkClr val="tx"/>
                    </a:ext>
                  </a:extLst>
                </a:hlinkClick>
              </a:rPr>
              <a:t>ya.ru</a:t>
            </a:r>
            <a:endParaRPr b="0" i="0" sz="1400" u="none" cap="none" strike="noStrike">
              <a:solidFill>
                <a:srgbClr val="123194"/>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3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2"/>
          <p:cNvSpPr/>
          <p:nvPr/>
        </p:nvSpPr>
        <p:spPr>
          <a:xfrm>
            <a:off x="459858" y="1152351"/>
            <a:ext cx="3782700" cy="30606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2"/>
          <p:cNvSpPr txBox="1"/>
          <p:nvPr/>
        </p:nvSpPr>
        <p:spPr>
          <a:xfrm>
            <a:off x="849858" y="232016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67" name="Google Shape;267;p22"/>
          <p:cNvSpPr txBox="1"/>
          <p:nvPr/>
        </p:nvSpPr>
        <p:spPr>
          <a:xfrm>
            <a:off x="351300" y="4191975"/>
            <a:ext cx="38913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68" name="Google Shape;268;p22"/>
          <p:cNvSpPr/>
          <p:nvPr/>
        </p:nvSpPr>
        <p:spPr>
          <a:xfrm>
            <a:off x="4754310" y="1152351"/>
            <a:ext cx="3782700" cy="30606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txBox="1"/>
          <p:nvPr/>
        </p:nvSpPr>
        <p:spPr>
          <a:xfrm>
            <a:off x="5144310" y="232016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70" name="Google Shape;270;p22"/>
          <p:cNvSpPr txBox="1"/>
          <p:nvPr/>
        </p:nvSpPr>
        <p:spPr>
          <a:xfrm>
            <a:off x="4659772" y="4191975"/>
            <a:ext cx="4009500" cy="33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71" name="Google Shape;271;p22"/>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3"/>
          <p:cNvSpPr txBox="1"/>
          <p:nvPr/>
        </p:nvSpPr>
        <p:spPr>
          <a:xfrm>
            <a:off x="368558" y="284065"/>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77" name="Google Shape;277;p23"/>
          <p:cNvSpPr/>
          <p:nvPr/>
        </p:nvSpPr>
        <p:spPr>
          <a:xfrm>
            <a:off x="459858" y="2563223"/>
            <a:ext cx="8080500" cy="18768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3"/>
          <p:cNvSpPr txBox="1"/>
          <p:nvPr/>
        </p:nvSpPr>
        <p:spPr>
          <a:xfrm>
            <a:off x="2914972" y="292780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79" name="Google Shape;279;p23"/>
          <p:cNvSpPr txBox="1"/>
          <p:nvPr/>
        </p:nvSpPr>
        <p:spPr>
          <a:xfrm>
            <a:off x="354822" y="4403884"/>
            <a:ext cx="80805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80" name="Google Shape;280;p23"/>
          <p:cNvSpPr txBox="1"/>
          <p:nvPr/>
        </p:nvSpPr>
        <p:spPr>
          <a:xfrm>
            <a:off x="372350" y="1024947"/>
            <a:ext cx="8167800" cy="16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none" cap="none" strike="noStrike">
                <a:solidFill>
                  <a:srgbClr val="000000"/>
                </a:solidFill>
                <a:latin typeface="Montserrat"/>
                <a:ea typeface="Montserrat"/>
                <a:cs typeface="Montserrat"/>
                <a:sym typeface="Montserrat"/>
              </a:rPr>
              <a:t>Текст </a:t>
            </a: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a:t>
            </a:r>
            <a:r>
              <a:rPr b="0" i="0" lang="ru" sz="2000" u="none" cap="none" strike="noStrike">
                <a:solidFill>
                  <a:schemeClr val="dk1"/>
                </a:solidFill>
                <a:latin typeface="Montserrat"/>
                <a:ea typeface="Montserrat"/>
                <a:cs typeface="Montserrat"/>
                <a:sym typeface="Montserrat"/>
              </a:rPr>
              <a:t> </a:t>
            </a:r>
            <a:endParaRPr b="0" i="0" sz="2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24"/>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86" name="Google Shape;286;p24"/>
          <p:cNvSpPr txBox="1"/>
          <p:nvPr/>
        </p:nvSpPr>
        <p:spPr>
          <a:xfrm>
            <a:off x="368558" y="2820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87" name="Google Shape;287;p24"/>
          <p:cNvSpPr txBox="1"/>
          <p:nvPr/>
        </p:nvSpPr>
        <p:spPr>
          <a:xfrm>
            <a:off x="279593"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Montserrat"/>
              <a:buChar char="●"/>
            </a:pPr>
            <a:r>
              <a:rPr b="0" i="0" lang="ru" sz="1800" u="none" cap="none" strike="noStrike">
                <a:solidFill>
                  <a:srgbClr val="000000"/>
                </a:solidFill>
                <a:latin typeface="Montserrat"/>
                <a:ea typeface="Montserrat"/>
                <a:cs typeface="Montserrat"/>
                <a:sym typeface="Montserrat"/>
              </a:rPr>
              <a:t>Список маркированный</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Список маркированный</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Список маркированный</a:t>
            </a:r>
            <a:endParaRPr b="0" i="0" sz="18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25"/>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93" name="Google Shape;293;p25"/>
          <p:cNvSpPr txBox="1"/>
          <p:nvPr/>
        </p:nvSpPr>
        <p:spPr>
          <a:xfrm>
            <a:off x="368558" y="28497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94" name="Google Shape;294;p25"/>
          <p:cNvSpPr txBox="1"/>
          <p:nvPr/>
        </p:nvSpPr>
        <p:spPr>
          <a:xfrm>
            <a:off x="365196"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800"/>
              </a:spcBef>
              <a:spcAft>
                <a:spcPts val="0"/>
              </a:spcAft>
              <a:buClr>
                <a:schemeClr val="dk1"/>
              </a:buClr>
              <a:buSzPts val="1800"/>
              <a:buFont typeface="Montserrat"/>
              <a:buAutoNum type="arabicPeriod"/>
            </a:pPr>
            <a:r>
              <a:rPr b="0" i="0" lang="ru" sz="1800" u="none" cap="none" strike="noStrike">
                <a:solidFill>
                  <a:srgbClr val="000000"/>
                </a:solidFill>
                <a:latin typeface="Montserrat"/>
                <a:ea typeface="Montserrat"/>
                <a:cs typeface="Montserrat"/>
                <a:sym typeface="Montserrat"/>
              </a:rPr>
              <a:t>Список нумерованный</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AutoNum type="arabicPeriod"/>
            </a:pPr>
            <a:r>
              <a:rPr b="0" i="0" lang="ru" sz="1800" u="none" cap="none" strike="noStrike">
                <a:solidFill>
                  <a:schemeClr val="dk1"/>
                </a:solidFill>
                <a:latin typeface="Montserrat"/>
                <a:ea typeface="Montserrat"/>
                <a:cs typeface="Montserrat"/>
                <a:sym typeface="Montserrat"/>
              </a:rPr>
              <a:t>Список нумерованный</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1000"/>
              </a:spcAft>
              <a:buClr>
                <a:schemeClr val="dk1"/>
              </a:buClr>
              <a:buSzPts val="1800"/>
              <a:buFont typeface="Montserrat"/>
              <a:buAutoNum type="arabicPeriod"/>
            </a:pPr>
            <a:r>
              <a:rPr b="0" i="0" lang="ru" sz="1800" u="none" cap="none" strike="noStrike">
                <a:solidFill>
                  <a:schemeClr val="dk1"/>
                </a:solidFill>
                <a:latin typeface="Montserrat"/>
                <a:ea typeface="Montserrat"/>
                <a:cs typeface="Montserrat"/>
                <a:sym typeface="Montserrat"/>
              </a:rPr>
              <a:t>Список нумерованный</a:t>
            </a:r>
            <a:endParaRPr b="0" i="0" sz="18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6"/>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pic>
        <p:nvPicPr>
          <p:cNvPr id="300" name="Google Shape;300;p26" title="Points scored"/>
          <p:cNvPicPr preferRelativeResize="0"/>
          <p:nvPr/>
        </p:nvPicPr>
        <p:blipFill rotWithShape="1">
          <a:blip r:embed="rId3">
            <a:alphaModFix/>
          </a:blip>
          <a:srcRect b="0" l="0" r="0" t="0"/>
          <a:stretch/>
        </p:blipFill>
        <p:spPr>
          <a:xfrm>
            <a:off x="249374" y="562461"/>
            <a:ext cx="6317901" cy="390658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27" title="Points scored"/>
          <p:cNvPicPr preferRelativeResize="0"/>
          <p:nvPr/>
        </p:nvPicPr>
        <p:blipFill rotWithShape="1">
          <a:blip r:embed="rId3">
            <a:alphaModFix/>
          </a:blip>
          <a:srcRect b="0" l="0" r="0" t="0"/>
          <a:stretch/>
        </p:blipFill>
        <p:spPr>
          <a:xfrm>
            <a:off x="250862" y="555729"/>
            <a:ext cx="6335088" cy="3917176"/>
          </a:xfrm>
          <a:prstGeom prst="rect">
            <a:avLst/>
          </a:prstGeom>
          <a:noFill/>
          <a:ln>
            <a:noFill/>
          </a:ln>
        </p:spPr>
      </p:pic>
      <p:sp>
        <p:nvSpPr>
          <p:cNvPr id="306" name="Google Shape;306;p27"/>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28" title="Points scored"/>
          <p:cNvPicPr preferRelativeResize="0"/>
          <p:nvPr/>
        </p:nvPicPr>
        <p:blipFill rotWithShape="1">
          <a:blip r:embed="rId3">
            <a:alphaModFix/>
          </a:blip>
          <a:srcRect b="0" l="0" r="0" t="0"/>
          <a:stretch/>
        </p:blipFill>
        <p:spPr>
          <a:xfrm>
            <a:off x="249372" y="574156"/>
            <a:ext cx="6260376" cy="3870981"/>
          </a:xfrm>
          <a:prstGeom prst="rect">
            <a:avLst/>
          </a:prstGeom>
          <a:noFill/>
          <a:ln>
            <a:noFill/>
          </a:ln>
        </p:spPr>
      </p:pic>
      <p:sp>
        <p:nvSpPr>
          <p:cNvPr id="312" name="Google Shape;312;p28"/>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nvSpPr>
        <p:spPr>
          <a:xfrm>
            <a:off x="343325" y="736600"/>
            <a:ext cx="73686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000"/>
              <a:buFont typeface="Arial"/>
              <a:buNone/>
            </a:pPr>
            <a:r>
              <a:rPr b="0" i="0" lang="ru" sz="3000" u="none" cap="none" strike="noStrike">
                <a:solidFill>
                  <a:srgbClr val="123194"/>
                </a:solidFill>
                <a:latin typeface="Montserrat"/>
                <a:ea typeface="Montserrat"/>
                <a:cs typeface="Montserrat"/>
                <a:sym typeface="Montserrat"/>
              </a:rPr>
              <a:t>Важная ключевая</a:t>
            </a:r>
            <a:endParaRPr b="0" i="0" sz="3000" u="none" cap="none" strike="noStrike">
              <a:solidFill>
                <a:srgbClr val="123194"/>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3000"/>
              <a:buFont typeface="Arial"/>
              <a:buNone/>
            </a:pPr>
            <a:r>
              <a:rPr b="0" i="0" lang="ru" sz="3000" u="none" cap="none" strike="noStrike">
                <a:solidFill>
                  <a:srgbClr val="123194"/>
                </a:solidFill>
                <a:latin typeface="Montserrat"/>
                <a:ea typeface="Montserrat"/>
                <a:cs typeface="Montserrat"/>
                <a:sym typeface="Montserrat"/>
              </a:rPr>
              <a:t>мысль</a:t>
            </a:r>
            <a:endParaRPr b="0" i="0" sz="3000" u="none" cap="none" strike="noStrike">
              <a:solidFill>
                <a:srgbClr val="123194"/>
              </a:solidFill>
              <a:latin typeface="Montserrat"/>
              <a:ea typeface="Montserrat"/>
              <a:cs typeface="Montserrat"/>
              <a:sym typeface="Montserrat"/>
            </a:endParaRPr>
          </a:p>
        </p:txBody>
      </p:sp>
      <p:pic>
        <p:nvPicPr>
          <p:cNvPr id="318" name="Google Shape;318;p29"/>
          <p:cNvPicPr preferRelativeResize="0"/>
          <p:nvPr/>
        </p:nvPicPr>
        <p:blipFill rotWithShape="1">
          <a:blip r:embed="rId3">
            <a:alphaModFix/>
          </a:blip>
          <a:srcRect b="0" l="0" r="0" t="0"/>
          <a:stretch/>
        </p:blipFill>
        <p:spPr>
          <a:xfrm>
            <a:off x="388628" y="156412"/>
            <a:ext cx="847909" cy="415398"/>
          </a:xfrm>
          <a:prstGeom prst="rect">
            <a:avLst/>
          </a:prstGeom>
          <a:noFill/>
          <a:ln>
            <a:noFill/>
          </a:ln>
        </p:spPr>
      </p:pic>
      <p:pic>
        <p:nvPicPr>
          <p:cNvPr id="319" name="Google Shape;319;p29"/>
          <p:cNvPicPr preferRelativeResize="0"/>
          <p:nvPr/>
        </p:nvPicPr>
        <p:blipFill rotWithShape="1">
          <a:blip r:embed="rId4">
            <a:alphaModFix/>
          </a:blip>
          <a:srcRect b="0" l="0" r="0" t="0"/>
          <a:stretch/>
        </p:blipFill>
        <p:spPr>
          <a:xfrm>
            <a:off x="7517125" y="2220590"/>
            <a:ext cx="1019175" cy="2667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0"/>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25" name="Google Shape;325;p30"/>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Иконки</a:t>
            </a:r>
            <a:endParaRPr b="1" i="0" sz="2800" u="none" cap="none" strike="noStrike">
              <a:solidFill>
                <a:srgbClr val="123194"/>
              </a:solidFill>
              <a:latin typeface="Montserrat"/>
              <a:ea typeface="Montserrat"/>
              <a:cs typeface="Montserrat"/>
              <a:sym typeface="Montserrat"/>
            </a:endParaRPr>
          </a:p>
        </p:txBody>
      </p:sp>
      <p:pic>
        <p:nvPicPr>
          <p:cNvPr id="326" name="Google Shape;326;p30"/>
          <p:cNvPicPr preferRelativeResize="0"/>
          <p:nvPr/>
        </p:nvPicPr>
        <p:blipFill rotWithShape="1">
          <a:blip r:embed="rId3">
            <a:alphaModFix/>
          </a:blip>
          <a:srcRect b="0" l="0" r="0" t="0"/>
          <a:stretch/>
        </p:blipFill>
        <p:spPr>
          <a:xfrm>
            <a:off x="348539" y="559562"/>
            <a:ext cx="1685925" cy="2924175"/>
          </a:xfrm>
          <a:prstGeom prst="rect">
            <a:avLst/>
          </a:prstGeom>
          <a:noFill/>
          <a:ln>
            <a:noFill/>
          </a:ln>
        </p:spPr>
      </p:pic>
      <p:pic>
        <p:nvPicPr>
          <p:cNvPr id="327" name="Google Shape;327;p30"/>
          <p:cNvPicPr preferRelativeResize="0"/>
          <p:nvPr/>
        </p:nvPicPr>
        <p:blipFill rotWithShape="1">
          <a:blip r:embed="rId4">
            <a:alphaModFix/>
          </a:blip>
          <a:srcRect b="0" l="0" r="0" t="0"/>
          <a:stretch/>
        </p:blipFill>
        <p:spPr>
          <a:xfrm>
            <a:off x="1979281" y="638012"/>
            <a:ext cx="1752600" cy="2009775"/>
          </a:xfrm>
          <a:prstGeom prst="rect">
            <a:avLst/>
          </a:prstGeom>
          <a:noFill/>
          <a:ln>
            <a:noFill/>
          </a:ln>
        </p:spPr>
      </p:pic>
      <p:pic>
        <p:nvPicPr>
          <p:cNvPr id="328" name="Google Shape;328;p30"/>
          <p:cNvPicPr preferRelativeResize="0"/>
          <p:nvPr/>
        </p:nvPicPr>
        <p:blipFill rotWithShape="1">
          <a:blip r:embed="rId5">
            <a:alphaModFix/>
          </a:blip>
          <a:srcRect b="0" l="0" r="0" t="0"/>
          <a:stretch/>
        </p:blipFill>
        <p:spPr>
          <a:xfrm>
            <a:off x="2312069" y="2408849"/>
            <a:ext cx="1619250" cy="1971675"/>
          </a:xfrm>
          <a:prstGeom prst="rect">
            <a:avLst/>
          </a:prstGeom>
          <a:noFill/>
          <a:ln>
            <a:noFill/>
          </a:ln>
        </p:spPr>
      </p:pic>
      <p:pic>
        <p:nvPicPr>
          <p:cNvPr id="329" name="Google Shape;329;p30"/>
          <p:cNvPicPr preferRelativeResize="0"/>
          <p:nvPr/>
        </p:nvPicPr>
        <p:blipFill rotWithShape="1">
          <a:blip r:embed="rId6">
            <a:alphaModFix/>
          </a:blip>
          <a:srcRect b="0" l="0" r="0" t="0"/>
          <a:stretch/>
        </p:blipFill>
        <p:spPr>
          <a:xfrm>
            <a:off x="3829081" y="696899"/>
            <a:ext cx="1838325" cy="1381125"/>
          </a:xfrm>
          <a:prstGeom prst="rect">
            <a:avLst/>
          </a:prstGeom>
          <a:noFill/>
          <a:ln>
            <a:noFill/>
          </a:ln>
        </p:spPr>
      </p:pic>
      <p:pic>
        <p:nvPicPr>
          <p:cNvPr id="330" name="Google Shape;330;p30"/>
          <p:cNvPicPr preferRelativeResize="0"/>
          <p:nvPr/>
        </p:nvPicPr>
        <p:blipFill rotWithShape="1">
          <a:blip r:embed="rId7">
            <a:alphaModFix/>
          </a:blip>
          <a:srcRect b="0" l="0" r="0" t="0"/>
          <a:stretch/>
        </p:blipFill>
        <p:spPr>
          <a:xfrm>
            <a:off x="6863756" y="635762"/>
            <a:ext cx="1828800" cy="4152900"/>
          </a:xfrm>
          <a:prstGeom prst="rect">
            <a:avLst/>
          </a:prstGeom>
          <a:noFill/>
          <a:ln>
            <a:noFill/>
          </a:ln>
        </p:spPr>
      </p:pic>
      <p:pic>
        <p:nvPicPr>
          <p:cNvPr id="331" name="Google Shape;331;p30"/>
          <p:cNvPicPr preferRelativeResize="0"/>
          <p:nvPr/>
        </p:nvPicPr>
        <p:blipFill rotWithShape="1">
          <a:blip r:embed="rId8">
            <a:alphaModFix/>
          </a:blip>
          <a:srcRect b="0" l="0" r="0" t="0"/>
          <a:stretch/>
        </p:blipFill>
        <p:spPr>
          <a:xfrm>
            <a:off x="459856" y="3220363"/>
            <a:ext cx="2038350" cy="1628775"/>
          </a:xfrm>
          <a:prstGeom prst="rect">
            <a:avLst/>
          </a:prstGeom>
          <a:noFill/>
          <a:ln>
            <a:noFill/>
          </a:ln>
        </p:spPr>
      </p:pic>
      <p:pic>
        <p:nvPicPr>
          <p:cNvPr id="332" name="Google Shape;332;p30"/>
          <p:cNvPicPr preferRelativeResize="0"/>
          <p:nvPr/>
        </p:nvPicPr>
        <p:blipFill rotWithShape="1">
          <a:blip r:embed="rId9">
            <a:alphaModFix/>
          </a:blip>
          <a:srcRect b="0" l="0" r="0" t="0"/>
          <a:stretch/>
        </p:blipFill>
        <p:spPr>
          <a:xfrm>
            <a:off x="3897381" y="2664587"/>
            <a:ext cx="1876425" cy="2124075"/>
          </a:xfrm>
          <a:prstGeom prst="rect">
            <a:avLst/>
          </a:prstGeom>
          <a:noFill/>
          <a:ln>
            <a:noFill/>
          </a:ln>
        </p:spPr>
      </p:pic>
      <p:pic>
        <p:nvPicPr>
          <p:cNvPr id="333" name="Google Shape;333;p30"/>
          <p:cNvPicPr preferRelativeResize="0"/>
          <p:nvPr/>
        </p:nvPicPr>
        <p:blipFill rotWithShape="1">
          <a:blip r:embed="rId10">
            <a:alphaModFix/>
          </a:blip>
          <a:srcRect b="0" l="0" r="0" t="0"/>
          <a:stretch/>
        </p:blipFill>
        <p:spPr>
          <a:xfrm>
            <a:off x="5892251" y="847550"/>
            <a:ext cx="1019175" cy="2667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1"/>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39" name="Google Shape;339;p31"/>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Иконки</a:t>
            </a:r>
            <a:endParaRPr b="1" i="0" sz="2800" u="none" cap="none" strike="noStrike">
              <a:solidFill>
                <a:srgbClr val="123194"/>
              </a:solidFill>
              <a:latin typeface="Montserrat"/>
              <a:ea typeface="Montserrat"/>
              <a:cs typeface="Montserrat"/>
              <a:sym typeface="Montserrat"/>
            </a:endParaRPr>
          </a:p>
        </p:txBody>
      </p:sp>
      <p:pic>
        <p:nvPicPr>
          <p:cNvPr id="340" name="Google Shape;340;p31"/>
          <p:cNvPicPr preferRelativeResize="0"/>
          <p:nvPr/>
        </p:nvPicPr>
        <p:blipFill rotWithShape="1">
          <a:blip r:embed="rId3">
            <a:alphaModFix/>
          </a:blip>
          <a:srcRect b="0" l="0" r="0" t="0"/>
          <a:stretch/>
        </p:blipFill>
        <p:spPr>
          <a:xfrm>
            <a:off x="405338" y="685434"/>
            <a:ext cx="1790700" cy="2190750"/>
          </a:xfrm>
          <a:prstGeom prst="rect">
            <a:avLst/>
          </a:prstGeom>
          <a:noFill/>
          <a:ln>
            <a:noFill/>
          </a:ln>
        </p:spPr>
      </p:pic>
      <p:pic>
        <p:nvPicPr>
          <p:cNvPr id="341" name="Google Shape;341;p31"/>
          <p:cNvPicPr preferRelativeResize="0"/>
          <p:nvPr/>
        </p:nvPicPr>
        <p:blipFill rotWithShape="1">
          <a:blip r:embed="rId4">
            <a:alphaModFix/>
          </a:blip>
          <a:srcRect b="0" l="1162" r="1159" t="0"/>
          <a:stretch/>
        </p:blipFill>
        <p:spPr>
          <a:xfrm>
            <a:off x="6028626" y="1997451"/>
            <a:ext cx="2428875" cy="2387574"/>
          </a:xfrm>
          <a:prstGeom prst="rect">
            <a:avLst/>
          </a:prstGeom>
          <a:noFill/>
          <a:ln>
            <a:noFill/>
          </a:ln>
        </p:spPr>
      </p:pic>
      <p:pic>
        <p:nvPicPr>
          <p:cNvPr id="342" name="Google Shape;342;p31"/>
          <p:cNvPicPr preferRelativeResize="0"/>
          <p:nvPr/>
        </p:nvPicPr>
        <p:blipFill rotWithShape="1">
          <a:blip r:embed="rId5">
            <a:alphaModFix/>
          </a:blip>
          <a:srcRect b="0" l="0" r="0" t="0"/>
          <a:stretch/>
        </p:blipFill>
        <p:spPr>
          <a:xfrm>
            <a:off x="1851089" y="1828600"/>
            <a:ext cx="2352675" cy="2495550"/>
          </a:xfrm>
          <a:prstGeom prst="rect">
            <a:avLst/>
          </a:prstGeom>
          <a:noFill/>
          <a:ln>
            <a:noFill/>
          </a:ln>
        </p:spPr>
      </p:pic>
      <p:pic>
        <p:nvPicPr>
          <p:cNvPr id="343" name="Google Shape;343;p31"/>
          <p:cNvPicPr preferRelativeResize="0"/>
          <p:nvPr/>
        </p:nvPicPr>
        <p:blipFill rotWithShape="1">
          <a:blip r:embed="rId6">
            <a:alphaModFix/>
          </a:blip>
          <a:srcRect b="0" l="0" r="0" t="0"/>
          <a:stretch/>
        </p:blipFill>
        <p:spPr>
          <a:xfrm>
            <a:off x="4024989" y="685413"/>
            <a:ext cx="2428875" cy="24860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2"/>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49" name="Google Shape;349;p32"/>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2"/>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Иконки</a:t>
            </a:r>
            <a:endParaRPr b="1" i="0" sz="2800" u="none" cap="none" strike="noStrike">
              <a:solidFill>
                <a:schemeClr val="lt1"/>
              </a:solidFill>
              <a:latin typeface="Montserrat"/>
              <a:ea typeface="Montserrat"/>
              <a:cs typeface="Montserrat"/>
              <a:sym typeface="Montserrat"/>
            </a:endParaRPr>
          </a:p>
        </p:txBody>
      </p:sp>
      <p:pic>
        <p:nvPicPr>
          <p:cNvPr id="351" name="Google Shape;351;p32"/>
          <p:cNvPicPr preferRelativeResize="0"/>
          <p:nvPr/>
        </p:nvPicPr>
        <p:blipFill rotWithShape="1">
          <a:blip r:embed="rId3">
            <a:alphaModFix/>
          </a:blip>
          <a:srcRect b="0" l="0" r="0" t="0"/>
          <a:stretch/>
        </p:blipFill>
        <p:spPr>
          <a:xfrm>
            <a:off x="348539" y="559562"/>
            <a:ext cx="1685925" cy="2924175"/>
          </a:xfrm>
          <a:prstGeom prst="rect">
            <a:avLst/>
          </a:prstGeom>
          <a:noFill/>
          <a:ln>
            <a:noFill/>
          </a:ln>
        </p:spPr>
      </p:pic>
      <p:pic>
        <p:nvPicPr>
          <p:cNvPr id="352" name="Google Shape;352;p32"/>
          <p:cNvPicPr preferRelativeResize="0"/>
          <p:nvPr/>
        </p:nvPicPr>
        <p:blipFill rotWithShape="1">
          <a:blip r:embed="rId4">
            <a:alphaModFix/>
          </a:blip>
          <a:srcRect b="0" l="0" r="0" t="0"/>
          <a:stretch/>
        </p:blipFill>
        <p:spPr>
          <a:xfrm>
            <a:off x="1979281" y="638012"/>
            <a:ext cx="1752600" cy="2009775"/>
          </a:xfrm>
          <a:prstGeom prst="rect">
            <a:avLst/>
          </a:prstGeom>
          <a:noFill/>
          <a:ln>
            <a:noFill/>
          </a:ln>
        </p:spPr>
      </p:pic>
      <p:pic>
        <p:nvPicPr>
          <p:cNvPr id="353" name="Google Shape;353;p32"/>
          <p:cNvPicPr preferRelativeResize="0"/>
          <p:nvPr/>
        </p:nvPicPr>
        <p:blipFill rotWithShape="1">
          <a:blip r:embed="rId5">
            <a:alphaModFix/>
          </a:blip>
          <a:srcRect b="0" l="0" r="0" t="0"/>
          <a:stretch/>
        </p:blipFill>
        <p:spPr>
          <a:xfrm>
            <a:off x="2312069" y="2408849"/>
            <a:ext cx="1619250" cy="1971675"/>
          </a:xfrm>
          <a:prstGeom prst="rect">
            <a:avLst/>
          </a:prstGeom>
          <a:noFill/>
          <a:ln>
            <a:noFill/>
          </a:ln>
        </p:spPr>
      </p:pic>
      <p:pic>
        <p:nvPicPr>
          <p:cNvPr id="354" name="Google Shape;354;p32"/>
          <p:cNvPicPr preferRelativeResize="0"/>
          <p:nvPr/>
        </p:nvPicPr>
        <p:blipFill rotWithShape="1">
          <a:blip r:embed="rId6">
            <a:alphaModFix/>
          </a:blip>
          <a:srcRect b="0" l="0" r="0" t="0"/>
          <a:stretch/>
        </p:blipFill>
        <p:spPr>
          <a:xfrm>
            <a:off x="3829081" y="696899"/>
            <a:ext cx="1838325" cy="1381125"/>
          </a:xfrm>
          <a:prstGeom prst="rect">
            <a:avLst/>
          </a:prstGeom>
          <a:noFill/>
          <a:ln>
            <a:noFill/>
          </a:ln>
        </p:spPr>
      </p:pic>
      <p:pic>
        <p:nvPicPr>
          <p:cNvPr id="355" name="Google Shape;355;p32"/>
          <p:cNvPicPr preferRelativeResize="0"/>
          <p:nvPr/>
        </p:nvPicPr>
        <p:blipFill rotWithShape="1">
          <a:blip r:embed="rId7">
            <a:alphaModFix/>
          </a:blip>
          <a:srcRect b="0" l="0" r="0" t="0"/>
          <a:stretch/>
        </p:blipFill>
        <p:spPr>
          <a:xfrm>
            <a:off x="6863756" y="635762"/>
            <a:ext cx="1828800" cy="4152900"/>
          </a:xfrm>
          <a:prstGeom prst="rect">
            <a:avLst/>
          </a:prstGeom>
          <a:noFill/>
          <a:ln>
            <a:noFill/>
          </a:ln>
        </p:spPr>
      </p:pic>
      <p:pic>
        <p:nvPicPr>
          <p:cNvPr id="356" name="Google Shape;356;p32"/>
          <p:cNvPicPr preferRelativeResize="0"/>
          <p:nvPr/>
        </p:nvPicPr>
        <p:blipFill rotWithShape="1">
          <a:blip r:embed="rId8">
            <a:alphaModFix/>
          </a:blip>
          <a:srcRect b="0" l="0" r="0" t="0"/>
          <a:stretch/>
        </p:blipFill>
        <p:spPr>
          <a:xfrm>
            <a:off x="459856" y="3220363"/>
            <a:ext cx="2038350" cy="1628775"/>
          </a:xfrm>
          <a:prstGeom prst="rect">
            <a:avLst/>
          </a:prstGeom>
          <a:noFill/>
          <a:ln>
            <a:noFill/>
          </a:ln>
        </p:spPr>
      </p:pic>
      <p:pic>
        <p:nvPicPr>
          <p:cNvPr id="357" name="Google Shape;357;p32"/>
          <p:cNvPicPr preferRelativeResize="0"/>
          <p:nvPr/>
        </p:nvPicPr>
        <p:blipFill rotWithShape="1">
          <a:blip r:embed="rId9">
            <a:alphaModFix/>
          </a:blip>
          <a:srcRect b="0" l="0" r="0" t="0"/>
          <a:stretch/>
        </p:blipFill>
        <p:spPr>
          <a:xfrm>
            <a:off x="3897381" y="2664587"/>
            <a:ext cx="1876425" cy="2124075"/>
          </a:xfrm>
          <a:prstGeom prst="rect">
            <a:avLst/>
          </a:prstGeom>
          <a:noFill/>
          <a:ln>
            <a:noFill/>
          </a:ln>
        </p:spPr>
      </p:pic>
      <p:pic>
        <p:nvPicPr>
          <p:cNvPr id="358" name="Google Shape;358;p32"/>
          <p:cNvPicPr preferRelativeResize="0"/>
          <p:nvPr/>
        </p:nvPicPr>
        <p:blipFill rotWithShape="1">
          <a:blip r:embed="rId10">
            <a:alphaModFix/>
          </a:blip>
          <a:srcRect b="0" l="0" r="0" t="0"/>
          <a:stretch/>
        </p:blipFill>
        <p:spPr>
          <a:xfrm>
            <a:off x="5892251" y="847550"/>
            <a:ext cx="1019175" cy="2667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3"/>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64" name="Google Shape;364;p33"/>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3"/>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Иконки</a:t>
            </a:r>
            <a:endParaRPr b="1" i="0" sz="2800" u="none" cap="none" strike="noStrike">
              <a:solidFill>
                <a:schemeClr val="lt1"/>
              </a:solidFill>
              <a:latin typeface="Montserrat"/>
              <a:ea typeface="Montserrat"/>
              <a:cs typeface="Montserrat"/>
              <a:sym typeface="Montserrat"/>
            </a:endParaRPr>
          </a:p>
        </p:txBody>
      </p:sp>
      <p:pic>
        <p:nvPicPr>
          <p:cNvPr id="366" name="Google Shape;366;p33"/>
          <p:cNvPicPr preferRelativeResize="0"/>
          <p:nvPr/>
        </p:nvPicPr>
        <p:blipFill rotWithShape="1">
          <a:blip r:embed="rId3">
            <a:alphaModFix/>
          </a:blip>
          <a:srcRect b="0" l="0" r="0" t="0"/>
          <a:stretch/>
        </p:blipFill>
        <p:spPr>
          <a:xfrm>
            <a:off x="405338" y="685434"/>
            <a:ext cx="1790700" cy="2190750"/>
          </a:xfrm>
          <a:prstGeom prst="rect">
            <a:avLst/>
          </a:prstGeom>
          <a:noFill/>
          <a:ln>
            <a:noFill/>
          </a:ln>
        </p:spPr>
      </p:pic>
      <p:pic>
        <p:nvPicPr>
          <p:cNvPr id="367" name="Google Shape;367;p33"/>
          <p:cNvPicPr preferRelativeResize="0"/>
          <p:nvPr/>
        </p:nvPicPr>
        <p:blipFill rotWithShape="1">
          <a:blip r:embed="rId4">
            <a:alphaModFix/>
          </a:blip>
          <a:srcRect b="0" l="1960" r="1959" t="0"/>
          <a:stretch/>
        </p:blipFill>
        <p:spPr>
          <a:xfrm>
            <a:off x="6028626" y="1997451"/>
            <a:ext cx="2428875" cy="2387574"/>
          </a:xfrm>
          <a:prstGeom prst="rect">
            <a:avLst/>
          </a:prstGeom>
          <a:noFill/>
          <a:ln>
            <a:noFill/>
          </a:ln>
        </p:spPr>
      </p:pic>
      <p:pic>
        <p:nvPicPr>
          <p:cNvPr id="368" name="Google Shape;368;p33"/>
          <p:cNvPicPr preferRelativeResize="0"/>
          <p:nvPr/>
        </p:nvPicPr>
        <p:blipFill rotWithShape="1">
          <a:blip r:embed="rId5">
            <a:alphaModFix/>
          </a:blip>
          <a:srcRect b="0" l="0" r="0" t="0"/>
          <a:stretch/>
        </p:blipFill>
        <p:spPr>
          <a:xfrm>
            <a:off x="1851089" y="1828600"/>
            <a:ext cx="2352675" cy="2495550"/>
          </a:xfrm>
          <a:prstGeom prst="rect">
            <a:avLst/>
          </a:prstGeom>
          <a:noFill/>
          <a:ln>
            <a:noFill/>
          </a:ln>
        </p:spPr>
      </p:pic>
      <p:pic>
        <p:nvPicPr>
          <p:cNvPr id="369" name="Google Shape;369;p33"/>
          <p:cNvPicPr preferRelativeResize="0"/>
          <p:nvPr/>
        </p:nvPicPr>
        <p:blipFill rotWithShape="1">
          <a:blip r:embed="rId6">
            <a:alphaModFix/>
          </a:blip>
          <a:srcRect b="0" l="0" r="0" t="0"/>
          <a:stretch/>
        </p:blipFill>
        <p:spPr>
          <a:xfrm>
            <a:off x="4024989" y="685413"/>
            <a:ext cx="2428875" cy="2486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